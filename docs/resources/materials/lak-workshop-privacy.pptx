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38"/>
  </p:notesMasterIdLst>
  <p:sldIdLst>
    <p:sldId id="256" r:id="rId2"/>
    <p:sldId id="257" r:id="rId3"/>
    <p:sldId id="264" r:id="rId4"/>
    <p:sldId id="265" r:id="rId5"/>
    <p:sldId id="275" r:id="rId6"/>
    <p:sldId id="258" r:id="rId7"/>
    <p:sldId id="266" r:id="rId8"/>
    <p:sldId id="260" r:id="rId9"/>
    <p:sldId id="268" r:id="rId10"/>
    <p:sldId id="261" r:id="rId11"/>
    <p:sldId id="269" r:id="rId12"/>
    <p:sldId id="262" r:id="rId13"/>
    <p:sldId id="270" r:id="rId14"/>
    <p:sldId id="271" r:id="rId15"/>
    <p:sldId id="276" r:id="rId16"/>
    <p:sldId id="277" r:id="rId17"/>
    <p:sldId id="295" r:id="rId18"/>
    <p:sldId id="278" r:id="rId19"/>
    <p:sldId id="279" r:id="rId20"/>
    <p:sldId id="298" r:id="rId21"/>
    <p:sldId id="280" r:id="rId22"/>
    <p:sldId id="299" r:id="rId23"/>
    <p:sldId id="281" r:id="rId24"/>
    <p:sldId id="282" r:id="rId25"/>
    <p:sldId id="283" r:id="rId26"/>
    <p:sldId id="284" r:id="rId27"/>
    <p:sldId id="285" r:id="rId28"/>
    <p:sldId id="286" r:id="rId29"/>
    <p:sldId id="263" r:id="rId30"/>
    <p:sldId id="273" r:id="rId31"/>
    <p:sldId id="296" r:id="rId32"/>
    <p:sldId id="287" r:id="rId33"/>
    <p:sldId id="288" r:id="rId34"/>
    <p:sldId id="290" r:id="rId35"/>
    <p:sldId id="297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86401"/>
  </p:normalViewPr>
  <p:slideViewPr>
    <p:cSldViewPr snapToGrid="0">
      <p:cViewPr varScale="1">
        <p:scale>
          <a:sx n="90" d="100"/>
          <a:sy n="90" d="100"/>
        </p:scale>
        <p:origin x="32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954FCE-636D-4D56-92B6-E6C7F0FBF15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428F76A-B886-47CE-82F5-8123CE81F7D1}">
      <dgm:prSet/>
      <dgm:spPr/>
      <dgm:t>
        <a:bodyPr/>
        <a:lstStyle/>
        <a:p>
          <a:r>
            <a:rPr lang="en-US"/>
            <a:t>Attribute inference risk</a:t>
          </a:r>
        </a:p>
      </dgm:t>
    </dgm:pt>
    <dgm:pt modelId="{2CA6C4F7-BF91-4156-B6C2-AF716ABBF894}" type="parTrans" cxnId="{A59D7301-CDF9-4BBB-9109-7B4E2FCC060C}">
      <dgm:prSet/>
      <dgm:spPr/>
      <dgm:t>
        <a:bodyPr/>
        <a:lstStyle/>
        <a:p>
          <a:endParaRPr lang="en-US"/>
        </a:p>
      </dgm:t>
    </dgm:pt>
    <dgm:pt modelId="{CE7AF06C-1FE6-4186-848E-722F69D4CBB9}" type="sibTrans" cxnId="{A59D7301-CDF9-4BBB-9109-7B4E2FCC060C}">
      <dgm:prSet/>
      <dgm:spPr/>
      <dgm:t>
        <a:bodyPr/>
        <a:lstStyle/>
        <a:p>
          <a:endParaRPr lang="en-US"/>
        </a:p>
      </dgm:t>
    </dgm:pt>
    <dgm:pt modelId="{A5D27172-E570-479D-9AD1-3405BF0A7A92}">
      <dgm:prSet/>
      <dgm:spPr/>
      <dgm:t>
        <a:bodyPr/>
        <a:lstStyle/>
        <a:p>
          <a:r>
            <a:rPr lang="en-GB"/>
            <a:t>Even if a student is not directly identified, sensitive information may be inferred.</a:t>
          </a:r>
          <a:endParaRPr lang="en-US"/>
        </a:p>
      </dgm:t>
    </dgm:pt>
    <dgm:pt modelId="{A59135A1-8F2B-4567-B0BD-C3B7E111BF73}" type="parTrans" cxnId="{6914D8E1-AABB-4100-8824-0DF61D01E864}">
      <dgm:prSet/>
      <dgm:spPr/>
      <dgm:t>
        <a:bodyPr/>
        <a:lstStyle/>
        <a:p>
          <a:endParaRPr lang="en-US"/>
        </a:p>
      </dgm:t>
    </dgm:pt>
    <dgm:pt modelId="{1D48E830-A39C-4C98-98F3-BEDC7B8E408C}" type="sibTrans" cxnId="{6914D8E1-AABB-4100-8824-0DF61D01E864}">
      <dgm:prSet/>
      <dgm:spPr/>
      <dgm:t>
        <a:bodyPr/>
        <a:lstStyle/>
        <a:p>
          <a:endParaRPr lang="en-US"/>
        </a:p>
      </dgm:t>
    </dgm:pt>
    <dgm:pt modelId="{F560DF65-F477-4908-B376-211332D95821}">
      <dgm:prSet/>
      <dgm:spPr/>
      <dgm:t>
        <a:bodyPr/>
        <a:lstStyle/>
        <a:p>
          <a:r>
            <a:rPr lang="en-US"/>
            <a:t>Sometimes the problem isn't 'I know who you are,' but rather 'I can infer that you belong to a high-risk or vulnerable group.'</a:t>
          </a:r>
        </a:p>
      </dgm:t>
    </dgm:pt>
    <dgm:pt modelId="{336E697F-3A75-4149-B141-0BEDB2E27A91}" type="parTrans" cxnId="{9404F38F-6D8D-4153-8714-33417F300B78}">
      <dgm:prSet/>
      <dgm:spPr/>
      <dgm:t>
        <a:bodyPr/>
        <a:lstStyle/>
        <a:p>
          <a:endParaRPr lang="en-US"/>
        </a:p>
      </dgm:t>
    </dgm:pt>
    <dgm:pt modelId="{7A5CD899-1C75-4BA6-9788-7796442A29C0}" type="sibTrans" cxnId="{9404F38F-6D8D-4153-8714-33417F300B78}">
      <dgm:prSet/>
      <dgm:spPr/>
      <dgm:t>
        <a:bodyPr/>
        <a:lstStyle/>
        <a:p>
          <a:endParaRPr lang="en-US"/>
        </a:p>
      </dgm:t>
    </dgm:pt>
    <dgm:pt modelId="{8BD5BA86-697E-DB40-B064-90751606C794}" type="pres">
      <dgm:prSet presAssocID="{70954FCE-636D-4D56-92B6-E6C7F0FBF15D}" presName="vert0" presStyleCnt="0">
        <dgm:presLayoutVars>
          <dgm:dir/>
          <dgm:animOne val="branch"/>
          <dgm:animLvl val="lvl"/>
        </dgm:presLayoutVars>
      </dgm:prSet>
      <dgm:spPr/>
    </dgm:pt>
    <dgm:pt modelId="{336A1A81-FECE-1C4B-80D0-570A9E2753AE}" type="pres">
      <dgm:prSet presAssocID="{D428F76A-B886-47CE-82F5-8123CE81F7D1}" presName="thickLine" presStyleLbl="alignNode1" presStyleIdx="0" presStyleCnt="3"/>
      <dgm:spPr/>
    </dgm:pt>
    <dgm:pt modelId="{2711F001-8065-3D40-9AAA-4FD00AA86C38}" type="pres">
      <dgm:prSet presAssocID="{D428F76A-B886-47CE-82F5-8123CE81F7D1}" presName="horz1" presStyleCnt="0"/>
      <dgm:spPr/>
    </dgm:pt>
    <dgm:pt modelId="{AB9C6527-29E5-014A-98D5-E144B510F56F}" type="pres">
      <dgm:prSet presAssocID="{D428F76A-B886-47CE-82F5-8123CE81F7D1}" presName="tx1" presStyleLbl="revTx" presStyleIdx="0" presStyleCnt="3"/>
      <dgm:spPr/>
    </dgm:pt>
    <dgm:pt modelId="{102CA458-C3D1-1447-B106-1D75AD2C65CE}" type="pres">
      <dgm:prSet presAssocID="{D428F76A-B886-47CE-82F5-8123CE81F7D1}" presName="vert1" presStyleCnt="0"/>
      <dgm:spPr/>
    </dgm:pt>
    <dgm:pt modelId="{029627CE-FC94-4243-A778-F077D9ECAF16}" type="pres">
      <dgm:prSet presAssocID="{A5D27172-E570-479D-9AD1-3405BF0A7A92}" presName="thickLine" presStyleLbl="alignNode1" presStyleIdx="1" presStyleCnt="3"/>
      <dgm:spPr/>
    </dgm:pt>
    <dgm:pt modelId="{5C8E4850-B3FD-F04B-963B-740072D6AE04}" type="pres">
      <dgm:prSet presAssocID="{A5D27172-E570-479D-9AD1-3405BF0A7A92}" presName="horz1" presStyleCnt="0"/>
      <dgm:spPr/>
    </dgm:pt>
    <dgm:pt modelId="{0557F5CB-ED8E-AD48-8647-98138164D824}" type="pres">
      <dgm:prSet presAssocID="{A5D27172-E570-479D-9AD1-3405BF0A7A92}" presName="tx1" presStyleLbl="revTx" presStyleIdx="1" presStyleCnt="3"/>
      <dgm:spPr/>
    </dgm:pt>
    <dgm:pt modelId="{006E46D7-735F-0042-874B-34458950E582}" type="pres">
      <dgm:prSet presAssocID="{A5D27172-E570-479D-9AD1-3405BF0A7A92}" presName="vert1" presStyleCnt="0"/>
      <dgm:spPr/>
    </dgm:pt>
    <dgm:pt modelId="{3CA79450-42DE-9148-9A33-06FC7D5ADA3B}" type="pres">
      <dgm:prSet presAssocID="{F560DF65-F477-4908-B376-211332D95821}" presName="thickLine" presStyleLbl="alignNode1" presStyleIdx="2" presStyleCnt="3"/>
      <dgm:spPr/>
    </dgm:pt>
    <dgm:pt modelId="{E2F45DD1-65DA-3640-A069-BACAC7FC01FB}" type="pres">
      <dgm:prSet presAssocID="{F560DF65-F477-4908-B376-211332D95821}" presName="horz1" presStyleCnt="0"/>
      <dgm:spPr/>
    </dgm:pt>
    <dgm:pt modelId="{C78A720A-0224-ED4A-95AB-65370A5650B7}" type="pres">
      <dgm:prSet presAssocID="{F560DF65-F477-4908-B376-211332D95821}" presName="tx1" presStyleLbl="revTx" presStyleIdx="2" presStyleCnt="3"/>
      <dgm:spPr/>
    </dgm:pt>
    <dgm:pt modelId="{20F8421A-979C-5946-9E66-44F6909FDE7B}" type="pres">
      <dgm:prSet presAssocID="{F560DF65-F477-4908-B376-211332D95821}" presName="vert1" presStyleCnt="0"/>
      <dgm:spPr/>
    </dgm:pt>
  </dgm:ptLst>
  <dgm:cxnLst>
    <dgm:cxn modelId="{A59D7301-CDF9-4BBB-9109-7B4E2FCC060C}" srcId="{70954FCE-636D-4D56-92B6-E6C7F0FBF15D}" destId="{D428F76A-B886-47CE-82F5-8123CE81F7D1}" srcOrd="0" destOrd="0" parTransId="{2CA6C4F7-BF91-4156-B6C2-AF716ABBF894}" sibTransId="{CE7AF06C-1FE6-4186-848E-722F69D4CBB9}"/>
    <dgm:cxn modelId="{E3412353-D00D-984D-8BBA-E456428FDC0B}" type="presOf" srcId="{70954FCE-636D-4D56-92B6-E6C7F0FBF15D}" destId="{8BD5BA86-697E-DB40-B064-90751606C794}" srcOrd="0" destOrd="0" presId="urn:microsoft.com/office/officeart/2008/layout/LinedList"/>
    <dgm:cxn modelId="{78E2AE73-DA6C-564E-80DC-7058D1785240}" type="presOf" srcId="{A5D27172-E570-479D-9AD1-3405BF0A7A92}" destId="{0557F5CB-ED8E-AD48-8647-98138164D824}" srcOrd="0" destOrd="0" presId="urn:microsoft.com/office/officeart/2008/layout/LinedList"/>
    <dgm:cxn modelId="{9404F38F-6D8D-4153-8714-33417F300B78}" srcId="{70954FCE-636D-4D56-92B6-E6C7F0FBF15D}" destId="{F560DF65-F477-4908-B376-211332D95821}" srcOrd="2" destOrd="0" parTransId="{336E697F-3A75-4149-B141-0BEDB2E27A91}" sibTransId="{7A5CD899-1C75-4BA6-9788-7796442A29C0}"/>
    <dgm:cxn modelId="{7C6ACF9E-BA11-C849-8A21-FE9206ACAFE7}" type="presOf" srcId="{D428F76A-B886-47CE-82F5-8123CE81F7D1}" destId="{AB9C6527-29E5-014A-98D5-E144B510F56F}" srcOrd="0" destOrd="0" presId="urn:microsoft.com/office/officeart/2008/layout/LinedList"/>
    <dgm:cxn modelId="{961EE29E-DBE5-D94B-AD00-CCABB86CE2E2}" type="presOf" srcId="{F560DF65-F477-4908-B376-211332D95821}" destId="{C78A720A-0224-ED4A-95AB-65370A5650B7}" srcOrd="0" destOrd="0" presId="urn:microsoft.com/office/officeart/2008/layout/LinedList"/>
    <dgm:cxn modelId="{6914D8E1-AABB-4100-8824-0DF61D01E864}" srcId="{70954FCE-636D-4D56-92B6-E6C7F0FBF15D}" destId="{A5D27172-E570-479D-9AD1-3405BF0A7A92}" srcOrd="1" destOrd="0" parTransId="{A59135A1-8F2B-4567-B0BD-C3B7E111BF73}" sibTransId="{1D48E830-A39C-4C98-98F3-BEDC7B8E408C}"/>
    <dgm:cxn modelId="{18065785-E199-D940-A255-A9114E137F0C}" type="presParOf" srcId="{8BD5BA86-697E-DB40-B064-90751606C794}" destId="{336A1A81-FECE-1C4B-80D0-570A9E2753AE}" srcOrd="0" destOrd="0" presId="urn:microsoft.com/office/officeart/2008/layout/LinedList"/>
    <dgm:cxn modelId="{92943A0F-A08A-7A43-A453-F97E5164131A}" type="presParOf" srcId="{8BD5BA86-697E-DB40-B064-90751606C794}" destId="{2711F001-8065-3D40-9AAA-4FD00AA86C38}" srcOrd="1" destOrd="0" presId="urn:microsoft.com/office/officeart/2008/layout/LinedList"/>
    <dgm:cxn modelId="{095F26FD-9CCE-6946-8F36-48FEE2067015}" type="presParOf" srcId="{2711F001-8065-3D40-9AAA-4FD00AA86C38}" destId="{AB9C6527-29E5-014A-98D5-E144B510F56F}" srcOrd="0" destOrd="0" presId="urn:microsoft.com/office/officeart/2008/layout/LinedList"/>
    <dgm:cxn modelId="{1314ABDC-7672-3D4C-BC55-34B0BCB8AEA8}" type="presParOf" srcId="{2711F001-8065-3D40-9AAA-4FD00AA86C38}" destId="{102CA458-C3D1-1447-B106-1D75AD2C65CE}" srcOrd="1" destOrd="0" presId="urn:microsoft.com/office/officeart/2008/layout/LinedList"/>
    <dgm:cxn modelId="{9083037A-ADB8-D446-A552-2BB7D62862D4}" type="presParOf" srcId="{8BD5BA86-697E-DB40-B064-90751606C794}" destId="{029627CE-FC94-4243-A778-F077D9ECAF16}" srcOrd="2" destOrd="0" presId="urn:microsoft.com/office/officeart/2008/layout/LinedList"/>
    <dgm:cxn modelId="{3EC6BC19-7035-CB45-8C7A-5AE2CE9B443B}" type="presParOf" srcId="{8BD5BA86-697E-DB40-B064-90751606C794}" destId="{5C8E4850-B3FD-F04B-963B-740072D6AE04}" srcOrd="3" destOrd="0" presId="urn:microsoft.com/office/officeart/2008/layout/LinedList"/>
    <dgm:cxn modelId="{A92721A7-15E4-8C4F-AAC0-A2C8BDA94708}" type="presParOf" srcId="{5C8E4850-B3FD-F04B-963B-740072D6AE04}" destId="{0557F5CB-ED8E-AD48-8647-98138164D824}" srcOrd="0" destOrd="0" presId="urn:microsoft.com/office/officeart/2008/layout/LinedList"/>
    <dgm:cxn modelId="{54D048CB-519F-984B-A893-1991C2AA45A3}" type="presParOf" srcId="{5C8E4850-B3FD-F04B-963B-740072D6AE04}" destId="{006E46D7-735F-0042-874B-34458950E582}" srcOrd="1" destOrd="0" presId="urn:microsoft.com/office/officeart/2008/layout/LinedList"/>
    <dgm:cxn modelId="{43819C1D-0939-DC4C-A078-4B848FFFAEE2}" type="presParOf" srcId="{8BD5BA86-697E-DB40-B064-90751606C794}" destId="{3CA79450-42DE-9148-9A33-06FC7D5ADA3B}" srcOrd="4" destOrd="0" presId="urn:microsoft.com/office/officeart/2008/layout/LinedList"/>
    <dgm:cxn modelId="{42DCCDE9-985A-7241-8AA0-4BAC97228FAD}" type="presParOf" srcId="{8BD5BA86-697E-DB40-B064-90751606C794}" destId="{E2F45DD1-65DA-3640-A069-BACAC7FC01FB}" srcOrd="5" destOrd="0" presId="urn:microsoft.com/office/officeart/2008/layout/LinedList"/>
    <dgm:cxn modelId="{C101FDD6-6564-E14D-96D0-C3DA00BD0B76}" type="presParOf" srcId="{E2F45DD1-65DA-3640-A069-BACAC7FC01FB}" destId="{C78A720A-0224-ED4A-95AB-65370A5650B7}" srcOrd="0" destOrd="0" presId="urn:microsoft.com/office/officeart/2008/layout/LinedList"/>
    <dgm:cxn modelId="{B2682987-82A5-CC41-ADB8-216D7485BEFB}" type="presParOf" srcId="{E2F45DD1-65DA-3640-A069-BACAC7FC01FB}" destId="{20F8421A-979C-5946-9E66-44F6909FDE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2CEA9B-5B45-4FEE-A89A-BF730BF9F6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9DB180-AC20-4B91-8449-38A5B83BED80}">
      <dgm:prSet/>
      <dgm:spPr/>
      <dgm:t>
        <a:bodyPr/>
        <a:lstStyle/>
        <a:p>
          <a:r>
            <a:rPr lang="en-US"/>
            <a:t>Can we tell if a specific student was in the original dataset?</a:t>
          </a:r>
        </a:p>
      </dgm:t>
    </dgm:pt>
    <dgm:pt modelId="{1B22CE91-B490-42B9-AACF-EAC7B8BBFCE8}" type="parTrans" cxnId="{A28134CD-33B8-4BC1-ADCF-5B264297350D}">
      <dgm:prSet/>
      <dgm:spPr/>
      <dgm:t>
        <a:bodyPr/>
        <a:lstStyle/>
        <a:p>
          <a:endParaRPr lang="en-US"/>
        </a:p>
      </dgm:t>
    </dgm:pt>
    <dgm:pt modelId="{4F9065D1-DFBF-426A-8261-AAC3F556BDC7}" type="sibTrans" cxnId="{A28134CD-33B8-4BC1-ADCF-5B264297350D}">
      <dgm:prSet/>
      <dgm:spPr/>
      <dgm:t>
        <a:bodyPr/>
        <a:lstStyle/>
        <a:p>
          <a:endParaRPr lang="en-US"/>
        </a:p>
      </dgm:t>
    </dgm:pt>
    <dgm:pt modelId="{C94A3C7D-1F60-481D-864A-EF255D892675}">
      <dgm:prSet/>
      <dgm:spPr/>
      <dgm:t>
        <a:bodyPr/>
        <a:lstStyle/>
        <a:p>
          <a:r>
            <a:rPr lang="en-US"/>
            <a:t>An attacker obtains a student's data. The question is: Is this person in the training data?</a:t>
          </a:r>
        </a:p>
      </dgm:t>
    </dgm:pt>
    <dgm:pt modelId="{B02A56C8-E091-4AFC-8781-0A2EBC3DFB09}" type="parTrans" cxnId="{88EA7B98-FAA5-4CFF-BE36-31B2F7C24AF8}">
      <dgm:prSet/>
      <dgm:spPr/>
      <dgm:t>
        <a:bodyPr/>
        <a:lstStyle/>
        <a:p>
          <a:endParaRPr lang="en-US"/>
        </a:p>
      </dgm:t>
    </dgm:pt>
    <dgm:pt modelId="{AE2F5FEF-D3A9-4BA2-82CB-D536FA32A4F0}" type="sibTrans" cxnId="{88EA7B98-FAA5-4CFF-BE36-31B2F7C24AF8}">
      <dgm:prSet/>
      <dgm:spPr/>
      <dgm:t>
        <a:bodyPr/>
        <a:lstStyle/>
        <a:p>
          <a:endParaRPr lang="en-US"/>
        </a:p>
      </dgm:t>
    </dgm:pt>
    <dgm:pt modelId="{A8305572-48B7-4716-BC23-D100D8C4B0EE}">
      <dgm:prSet/>
      <dgm:spPr/>
      <dgm:t>
        <a:bodyPr/>
        <a:lstStyle/>
        <a:p>
          <a:r>
            <a:rPr lang="en-US"/>
            <a:t>“Was this person in the dataset?”</a:t>
          </a:r>
        </a:p>
      </dgm:t>
    </dgm:pt>
    <dgm:pt modelId="{FE38CC93-228F-43F5-AA8C-4A126DBF3E8A}" type="parTrans" cxnId="{7164E4B8-D9EA-4CA7-9675-09B6B1F35178}">
      <dgm:prSet/>
      <dgm:spPr/>
      <dgm:t>
        <a:bodyPr/>
        <a:lstStyle/>
        <a:p>
          <a:endParaRPr lang="en-US"/>
        </a:p>
      </dgm:t>
    </dgm:pt>
    <dgm:pt modelId="{83108853-0842-4196-ABEF-E80407ABBF5F}" type="sibTrans" cxnId="{7164E4B8-D9EA-4CA7-9675-09B6B1F35178}">
      <dgm:prSet/>
      <dgm:spPr/>
      <dgm:t>
        <a:bodyPr/>
        <a:lstStyle/>
        <a:p>
          <a:endParaRPr lang="en-US"/>
        </a:p>
      </dgm:t>
    </dgm:pt>
    <dgm:pt modelId="{1BF5E83E-1B4D-4BC8-BEC8-D4A923DBD02A}" type="pres">
      <dgm:prSet presAssocID="{7D2CEA9B-5B45-4FEE-A89A-BF730BF9F625}" presName="root" presStyleCnt="0">
        <dgm:presLayoutVars>
          <dgm:dir/>
          <dgm:resizeHandles val="exact"/>
        </dgm:presLayoutVars>
      </dgm:prSet>
      <dgm:spPr/>
    </dgm:pt>
    <dgm:pt modelId="{0955003D-38E6-4CD8-886E-4146AD7CEAF2}" type="pres">
      <dgm:prSet presAssocID="{4C9DB180-AC20-4B91-8449-38A5B83BED80}" presName="compNode" presStyleCnt="0"/>
      <dgm:spPr/>
    </dgm:pt>
    <dgm:pt modelId="{D3D460FA-1E78-4A78-8BCE-4386114ADA32}" type="pres">
      <dgm:prSet presAssocID="{4C9DB180-AC20-4B91-8449-38A5B83BED80}" presName="bgRect" presStyleLbl="bgShp" presStyleIdx="0" presStyleCnt="3"/>
      <dgm:spPr/>
    </dgm:pt>
    <dgm:pt modelId="{BBDDC2BF-F412-48AC-B77C-681D2FF41EB2}" type="pres">
      <dgm:prSet presAssocID="{4C9DB180-AC20-4B91-8449-38A5B83BED8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189DFD4-07F6-4205-AEC8-0C6657386C97}" type="pres">
      <dgm:prSet presAssocID="{4C9DB180-AC20-4B91-8449-38A5B83BED80}" presName="spaceRect" presStyleCnt="0"/>
      <dgm:spPr/>
    </dgm:pt>
    <dgm:pt modelId="{58DCA818-2C10-487D-AB6C-359524CBAAA6}" type="pres">
      <dgm:prSet presAssocID="{4C9DB180-AC20-4B91-8449-38A5B83BED80}" presName="parTx" presStyleLbl="revTx" presStyleIdx="0" presStyleCnt="3">
        <dgm:presLayoutVars>
          <dgm:chMax val="0"/>
          <dgm:chPref val="0"/>
        </dgm:presLayoutVars>
      </dgm:prSet>
      <dgm:spPr/>
    </dgm:pt>
    <dgm:pt modelId="{FB0D0074-96F6-48E7-AC49-97CA8821F6FD}" type="pres">
      <dgm:prSet presAssocID="{4F9065D1-DFBF-426A-8261-AAC3F556BDC7}" presName="sibTrans" presStyleCnt="0"/>
      <dgm:spPr/>
    </dgm:pt>
    <dgm:pt modelId="{436270C6-8452-41A5-A308-F636B0DFA00D}" type="pres">
      <dgm:prSet presAssocID="{C94A3C7D-1F60-481D-864A-EF255D892675}" presName="compNode" presStyleCnt="0"/>
      <dgm:spPr/>
    </dgm:pt>
    <dgm:pt modelId="{4BD6E8EA-261A-40E7-995B-6D6E3A41E930}" type="pres">
      <dgm:prSet presAssocID="{C94A3C7D-1F60-481D-864A-EF255D892675}" presName="bgRect" presStyleLbl="bgShp" presStyleIdx="1" presStyleCnt="3"/>
      <dgm:spPr/>
    </dgm:pt>
    <dgm:pt modelId="{2A940016-A356-4495-AFA1-07AEF8B8BDB2}" type="pres">
      <dgm:prSet presAssocID="{C94A3C7D-1F60-481D-864A-EF255D89267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B7DA3FA-8BF9-4A04-9C98-9A2B88E74638}" type="pres">
      <dgm:prSet presAssocID="{C94A3C7D-1F60-481D-864A-EF255D892675}" presName="spaceRect" presStyleCnt="0"/>
      <dgm:spPr/>
    </dgm:pt>
    <dgm:pt modelId="{7DA07D03-6E83-4EA7-BAB0-901037526050}" type="pres">
      <dgm:prSet presAssocID="{C94A3C7D-1F60-481D-864A-EF255D892675}" presName="parTx" presStyleLbl="revTx" presStyleIdx="1" presStyleCnt="3">
        <dgm:presLayoutVars>
          <dgm:chMax val="0"/>
          <dgm:chPref val="0"/>
        </dgm:presLayoutVars>
      </dgm:prSet>
      <dgm:spPr/>
    </dgm:pt>
    <dgm:pt modelId="{E92F9D6A-D5CD-4552-8A04-9734024A166F}" type="pres">
      <dgm:prSet presAssocID="{AE2F5FEF-D3A9-4BA2-82CB-D536FA32A4F0}" presName="sibTrans" presStyleCnt="0"/>
      <dgm:spPr/>
    </dgm:pt>
    <dgm:pt modelId="{E3C57B84-F33E-4105-AE17-CA133B1005D3}" type="pres">
      <dgm:prSet presAssocID="{A8305572-48B7-4716-BC23-D100D8C4B0EE}" presName="compNode" presStyleCnt="0"/>
      <dgm:spPr/>
    </dgm:pt>
    <dgm:pt modelId="{D65A4993-0900-47B4-9A5C-99A75FABC410}" type="pres">
      <dgm:prSet presAssocID="{A8305572-48B7-4716-BC23-D100D8C4B0EE}" presName="bgRect" presStyleLbl="bgShp" presStyleIdx="2" presStyleCnt="3"/>
      <dgm:spPr/>
    </dgm:pt>
    <dgm:pt modelId="{BD7172C1-AF73-4EC5-BF4C-2D1D586DD1D3}" type="pres">
      <dgm:prSet presAssocID="{A8305572-48B7-4716-BC23-D100D8C4B0E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E654BF3-EC6C-4B6F-8788-23B14F523342}" type="pres">
      <dgm:prSet presAssocID="{A8305572-48B7-4716-BC23-D100D8C4B0EE}" presName="spaceRect" presStyleCnt="0"/>
      <dgm:spPr/>
    </dgm:pt>
    <dgm:pt modelId="{6DA365BD-7D6D-407E-BF8A-053C0C1BC065}" type="pres">
      <dgm:prSet presAssocID="{A8305572-48B7-4716-BC23-D100D8C4B0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2313D5B-D48C-46C6-9E8C-4C171311AC5A}" type="presOf" srcId="{7D2CEA9B-5B45-4FEE-A89A-BF730BF9F625}" destId="{1BF5E83E-1B4D-4BC8-BEC8-D4A923DBD02A}" srcOrd="0" destOrd="0" presId="urn:microsoft.com/office/officeart/2018/2/layout/IconVerticalSolidList"/>
    <dgm:cxn modelId="{88EA7B98-FAA5-4CFF-BE36-31B2F7C24AF8}" srcId="{7D2CEA9B-5B45-4FEE-A89A-BF730BF9F625}" destId="{C94A3C7D-1F60-481D-864A-EF255D892675}" srcOrd="1" destOrd="0" parTransId="{B02A56C8-E091-4AFC-8781-0A2EBC3DFB09}" sibTransId="{AE2F5FEF-D3A9-4BA2-82CB-D536FA32A4F0}"/>
    <dgm:cxn modelId="{7164E4B8-D9EA-4CA7-9675-09B6B1F35178}" srcId="{7D2CEA9B-5B45-4FEE-A89A-BF730BF9F625}" destId="{A8305572-48B7-4716-BC23-D100D8C4B0EE}" srcOrd="2" destOrd="0" parTransId="{FE38CC93-228F-43F5-AA8C-4A126DBF3E8A}" sibTransId="{83108853-0842-4196-ABEF-E80407ABBF5F}"/>
    <dgm:cxn modelId="{A28134CD-33B8-4BC1-ADCF-5B264297350D}" srcId="{7D2CEA9B-5B45-4FEE-A89A-BF730BF9F625}" destId="{4C9DB180-AC20-4B91-8449-38A5B83BED80}" srcOrd="0" destOrd="0" parTransId="{1B22CE91-B490-42B9-AACF-EAC7B8BBFCE8}" sibTransId="{4F9065D1-DFBF-426A-8261-AAC3F556BDC7}"/>
    <dgm:cxn modelId="{C6F572D4-974B-47B4-8C34-823FED39C93F}" type="presOf" srcId="{A8305572-48B7-4716-BC23-D100D8C4B0EE}" destId="{6DA365BD-7D6D-407E-BF8A-053C0C1BC065}" srcOrd="0" destOrd="0" presId="urn:microsoft.com/office/officeart/2018/2/layout/IconVerticalSolidList"/>
    <dgm:cxn modelId="{178249E6-4A97-43DF-AF48-937C494367EA}" type="presOf" srcId="{C94A3C7D-1F60-481D-864A-EF255D892675}" destId="{7DA07D03-6E83-4EA7-BAB0-901037526050}" srcOrd="0" destOrd="0" presId="urn:microsoft.com/office/officeart/2018/2/layout/IconVerticalSolidList"/>
    <dgm:cxn modelId="{373BB9F5-E912-4764-88C1-700D59E76BB5}" type="presOf" srcId="{4C9DB180-AC20-4B91-8449-38A5B83BED80}" destId="{58DCA818-2C10-487D-AB6C-359524CBAAA6}" srcOrd="0" destOrd="0" presId="urn:microsoft.com/office/officeart/2018/2/layout/IconVerticalSolidList"/>
    <dgm:cxn modelId="{2E435572-F11C-4ADD-A780-A9C457AED87E}" type="presParOf" srcId="{1BF5E83E-1B4D-4BC8-BEC8-D4A923DBD02A}" destId="{0955003D-38E6-4CD8-886E-4146AD7CEAF2}" srcOrd="0" destOrd="0" presId="urn:microsoft.com/office/officeart/2018/2/layout/IconVerticalSolidList"/>
    <dgm:cxn modelId="{E0A956AF-AEC8-4964-A3AA-CAEFA164D66D}" type="presParOf" srcId="{0955003D-38E6-4CD8-886E-4146AD7CEAF2}" destId="{D3D460FA-1E78-4A78-8BCE-4386114ADA32}" srcOrd="0" destOrd="0" presId="urn:microsoft.com/office/officeart/2018/2/layout/IconVerticalSolidList"/>
    <dgm:cxn modelId="{346AA50E-D696-4FF3-B7CA-642CACDC19FB}" type="presParOf" srcId="{0955003D-38E6-4CD8-886E-4146AD7CEAF2}" destId="{BBDDC2BF-F412-48AC-B77C-681D2FF41EB2}" srcOrd="1" destOrd="0" presId="urn:microsoft.com/office/officeart/2018/2/layout/IconVerticalSolidList"/>
    <dgm:cxn modelId="{26E5F330-5CEC-427F-98D7-DBC609FB7A5D}" type="presParOf" srcId="{0955003D-38E6-4CD8-886E-4146AD7CEAF2}" destId="{D189DFD4-07F6-4205-AEC8-0C6657386C97}" srcOrd="2" destOrd="0" presId="urn:microsoft.com/office/officeart/2018/2/layout/IconVerticalSolidList"/>
    <dgm:cxn modelId="{D6F08012-1ABF-49BC-B90E-55DBE298B34D}" type="presParOf" srcId="{0955003D-38E6-4CD8-886E-4146AD7CEAF2}" destId="{58DCA818-2C10-487D-AB6C-359524CBAAA6}" srcOrd="3" destOrd="0" presId="urn:microsoft.com/office/officeart/2018/2/layout/IconVerticalSolidList"/>
    <dgm:cxn modelId="{7A609438-18F9-49FD-A1FD-39BB6C75B497}" type="presParOf" srcId="{1BF5E83E-1B4D-4BC8-BEC8-D4A923DBD02A}" destId="{FB0D0074-96F6-48E7-AC49-97CA8821F6FD}" srcOrd="1" destOrd="0" presId="urn:microsoft.com/office/officeart/2018/2/layout/IconVerticalSolidList"/>
    <dgm:cxn modelId="{49090403-8AEC-4D3F-9003-41D1CF4065E5}" type="presParOf" srcId="{1BF5E83E-1B4D-4BC8-BEC8-D4A923DBD02A}" destId="{436270C6-8452-41A5-A308-F636B0DFA00D}" srcOrd="2" destOrd="0" presId="urn:microsoft.com/office/officeart/2018/2/layout/IconVerticalSolidList"/>
    <dgm:cxn modelId="{E2915613-1FE9-4BCD-B239-54EE9F44540B}" type="presParOf" srcId="{436270C6-8452-41A5-A308-F636B0DFA00D}" destId="{4BD6E8EA-261A-40E7-995B-6D6E3A41E930}" srcOrd="0" destOrd="0" presId="urn:microsoft.com/office/officeart/2018/2/layout/IconVerticalSolidList"/>
    <dgm:cxn modelId="{C4DA610E-8374-4DD9-B129-ECB465E6B34F}" type="presParOf" srcId="{436270C6-8452-41A5-A308-F636B0DFA00D}" destId="{2A940016-A356-4495-AFA1-07AEF8B8BDB2}" srcOrd="1" destOrd="0" presId="urn:microsoft.com/office/officeart/2018/2/layout/IconVerticalSolidList"/>
    <dgm:cxn modelId="{5B69F4F9-5EB9-416D-80A0-E295E89CAF38}" type="presParOf" srcId="{436270C6-8452-41A5-A308-F636B0DFA00D}" destId="{6B7DA3FA-8BF9-4A04-9C98-9A2B88E74638}" srcOrd="2" destOrd="0" presId="urn:microsoft.com/office/officeart/2018/2/layout/IconVerticalSolidList"/>
    <dgm:cxn modelId="{8C0F89A8-3412-4200-B600-1ED4372BFA5F}" type="presParOf" srcId="{436270C6-8452-41A5-A308-F636B0DFA00D}" destId="{7DA07D03-6E83-4EA7-BAB0-901037526050}" srcOrd="3" destOrd="0" presId="urn:microsoft.com/office/officeart/2018/2/layout/IconVerticalSolidList"/>
    <dgm:cxn modelId="{0F176004-4F69-4DE1-87EF-A55AAE3BDC22}" type="presParOf" srcId="{1BF5E83E-1B4D-4BC8-BEC8-D4A923DBD02A}" destId="{E92F9D6A-D5CD-4552-8A04-9734024A166F}" srcOrd="3" destOrd="0" presId="urn:microsoft.com/office/officeart/2018/2/layout/IconVerticalSolidList"/>
    <dgm:cxn modelId="{8640F796-8628-4634-A3B2-1AA0BF0BD51C}" type="presParOf" srcId="{1BF5E83E-1B4D-4BC8-BEC8-D4A923DBD02A}" destId="{E3C57B84-F33E-4105-AE17-CA133B1005D3}" srcOrd="4" destOrd="0" presId="urn:microsoft.com/office/officeart/2018/2/layout/IconVerticalSolidList"/>
    <dgm:cxn modelId="{3FBC15C7-4652-4626-9B43-64067E4C6CB7}" type="presParOf" srcId="{E3C57B84-F33E-4105-AE17-CA133B1005D3}" destId="{D65A4993-0900-47B4-9A5C-99A75FABC410}" srcOrd="0" destOrd="0" presId="urn:microsoft.com/office/officeart/2018/2/layout/IconVerticalSolidList"/>
    <dgm:cxn modelId="{7BEB2FC0-8A8E-4583-9141-076C93647CAF}" type="presParOf" srcId="{E3C57B84-F33E-4105-AE17-CA133B1005D3}" destId="{BD7172C1-AF73-4EC5-BF4C-2D1D586DD1D3}" srcOrd="1" destOrd="0" presId="urn:microsoft.com/office/officeart/2018/2/layout/IconVerticalSolidList"/>
    <dgm:cxn modelId="{DB4EB785-D63F-49B7-90EF-0041F80FF86E}" type="presParOf" srcId="{E3C57B84-F33E-4105-AE17-CA133B1005D3}" destId="{6E654BF3-EC6C-4B6F-8788-23B14F523342}" srcOrd="2" destOrd="0" presId="urn:microsoft.com/office/officeart/2018/2/layout/IconVerticalSolidList"/>
    <dgm:cxn modelId="{FD5F68A0-0559-4894-BD53-416093D5208A}" type="presParOf" srcId="{E3C57B84-F33E-4105-AE17-CA133B1005D3}" destId="{6DA365BD-7D6D-407E-BF8A-053C0C1BC0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A1A81-FECE-1C4B-80D0-570A9E2753AE}">
      <dsp:nvSpPr>
        <dsp:cNvPr id="0" name=""/>
        <dsp:cNvSpPr/>
      </dsp:nvSpPr>
      <dsp:spPr>
        <a:xfrm>
          <a:off x="0" y="2718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C6527-29E5-014A-98D5-E144B510F56F}">
      <dsp:nvSpPr>
        <dsp:cNvPr id="0" name=""/>
        <dsp:cNvSpPr/>
      </dsp:nvSpPr>
      <dsp:spPr>
        <a:xfrm>
          <a:off x="0" y="2718"/>
          <a:ext cx="7458074" cy="185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Attribute inference risk</a:t>
          </a:r>
        </a:p>
      </dsp:txBody>
      <dsp:txXfrm>
        <a:off x="0" y="2718"/>
        <a:ext cx="7458074" cy="1853975"/>
      </dsp:txXfrm>
    </dsp:sp>
    <dsp:sp modelId="{029627CE-FC94-4243-A778-F077D9ECAF16}">
      <dsp:nvSpPr>
        <dsp:cNvPr id="0" name=""/>
        <dsp:cNvSpPr/>
      </dsp:nvSpPr>
      <dsp:spPr>
        <a:xfrm>
          <a:off x="0" y="1856693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7F5CB-ED8E-AD48-8647-98138164D824}">
      <dsp:nvSpPr>
        <dsp:cNvPr id="0" name=""/>
        <dsp:cNvSpPr/>
      </dsp:nvSpPr>
      <dsp:spPr>
        <a:xfrm>
          <a:off x="0" y="1856693"/>
          <a:ext cx="7458074" cy="185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Even if a student is not directly identified, sensitive information may be inferred.</a:t>
          </a:r>
          <a:endParaRPr lang="en-US" sz="2900" kern="1200"/>
        </a:p>
      </dsp:txBody>
      <dsp:txXfrm>
        <a:off x="0" y="1856693"/>
        <a:ext cx="7458074" cy="1853975"/>
      </dsp:txXfrm>
    </dsp:sp>
    <dsp:sp modelId="{3CA79450-42DE-9148-9A33-06FC7D5ADA3B}">
      <dsp:nvSpPr>
        <dsp:cNvPr id="0" name=""/>
        <dsp:cNvSpPr/>
      </dsp:nvSpPr>
      <dsp:spPr>
        <a:xfrm>
          <a:off x="0" y="3710669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8A720A-0224-ED4A-95AB-65370A5650B7}">
      <dsp:nvSpPr>
        <dsp:cNvPr id="0" name=""/>
        <dsp:cNvSpPr/>
      </dsp:nvSpPr>
      <dsp:spPr>
        <a:xfrm>
          <a:off x="0" y="3710669"/>
          <a:ext cx="7458074" cy="185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Sometimes the problem isn't 'I know who you are,' but rather 'I can infer that you belong to a high-risk or vulnerable group.'</a:t>
          </a:r>
        </a:p>
      </dsp:txBody>
      <dsp:txXfrm>
        <a:off x="0" y="3710669"/>
        <a:ext cx="7458074" cy="18539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460FA-1E78-4A78-8BCE-4386114ADA32}">
      <dsp:nvSpPr>
        <dsp:cNvPr id="0" name=""/>
        <dsp:cNvSpPr/>
      </dsp:nvSpPr>
      <dsp:spPr>
        <a:xfrm>
          <a:off x="0" y="679"/>
          <a:ext cx="7060095" cy="15902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DDC2BF-F412-48AC-B77C-681D2FF41EB2}">
      <dsp:nvSpPr>
        <dsp:cNvPr id="0" name=""/>
        <dsp:cNvSpPr/>
      </dsp:nvSpPr>
      <dsp:spPr>
        <a:xfrm>
          <a:off x="481061" y="358494"/>
          <a:ext cx="874657" cy="874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CA818-2C10-487D-AB6C-359524CBAAA6}">
      <dsp:nvSpPr>
        <dsp:cNvPr id="0" name=""/>
        <dsp:cNvSpPr/>
      </dsp:nvSpPr>
      <dsp:spPr>
        <a:xfrm>
          <a:off x="1836781" y="679"/>
          <a:ext cx="5223313" cy="1590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we tell if a specific student was in the original dataset?</a:t>
          </a:r>
        </a:p>
      </dsp:txBody>
      <dsp:txXfrm>
        <a:off x="1836781" y="679"/>
        <a:ext cx="5223313" cy="1590286"/>
      </dsp:txXfrm>
    </dsp:sp>
    <dsp:sp modelId="{4BD6E8EA-261A-40E7-995B-6D6E3A41E930}">
      <dsp:nvSpPr>
        <dsp:cNvPr id="0" name=""/>
        <dsp:cNvSpPr/>
      </dsp:nvSpPr>
      <dsp:spPr>
        <a:xfrm>
          <a:off x="0" y="1988538"/>
          <a:ext cx="7060095" cy="15902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940016-A356-4495-AFA1-07AEF8B8BDB2}">
      <dsp:nvSpPr>
        <dsp:cNvPr id="0" name=""/>
        <dsp:cNvSpPr/>
      </dsp:nvSpPr>
      <dsp:spPr>
        <a:xfrm>
          <a:off x="481061" y="2346352"/>
          <a:ext cx="874657" cy="874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07D03-6E83-4EA7-BAB0-901037526050}">
      <dsp:nvSpPr>
        <dsp:cNvPr id="0" name=""/>
        <dsp:cNvSpPr/>
      </dsp:nvSpPr>
      <dsp:spPr>
        <a:xfrm>
          <a:off x="1836781" y="1988538"/>
          <a:ext cx="5223313" cy="1590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 attacker obtains a student's data. The question is: Is this person in the training data?</a:t>
          </a:r>
        </a:p>
      </dsp:txBody>
      <dsp:txXfrm>
        <a:off x="1836781" y="1988538"/>
        <a:ext cx="5223313" cy="1590286"/>
      </dsp:txXfrm>
    </dsp:sp>
    <dsp:sp modelId="{D65A4993-0900-47B4-9A5C-99A75FABC410}">
      <dsp:nvSpPr>
        <dsp:cNvPr id="0" name=""/>
        <dsp:cNvSpPr/>
      </dsp:nvSpPr>
      <dsp:spPr>
        <a:xfrm>
          <a:off x="0" y="3976396"/>
          <a:ext cx="7060095" cy="15902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172C1-AF73-4EC5-BF4C-2D1D586DD1D3}">
      <dsp:nvSpPr>
        <dsp:cNvPr id="0" name=""/>
        <dsp:cNvSpPr/>
      </dsp:nvSpPr>
      <dsp:spPr>
        <a:xfrm>
          <a:off x="481061" y="4334211"/>
          <a:ext cx="874657" cy="874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365BD-7D6D-407E-BF8A-053C0C1BC065}">
      <dsp:nvSpPr>
        <dsp:cNvPr id="0" name=""/>
        <dsp:cNvSpPr/>
      </dsp:nvSpPr>
      <dsp:spPr>
        <a:xfrm>
          <a:off x="1836781" y="3976396"/>
          <a:ext cx="5223313" cy="1590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“Was this person in the dataset?”</a:t>
          </a:r>
        </a:p>
      </dsp:txBody>
      <dsp:txXfrm>
        <a:off x="1836781" y="3976396"/>
        <a:ext cx="5223313" cy="15902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7F04F-D3EC-944E-B949-39026C3795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E2711-C9AF-1E45-878D-D7B9D9CA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54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1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29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8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56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78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learning analytics, much sensitive information is not written out directly, but rather revealed through behavioral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52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87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4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66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30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85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72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99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E2711-C9AF-1E45-878D-D7B9D9CA242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51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2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7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8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3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5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9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8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1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0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9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8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4/27/26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2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BC134-9A86-4418-CC4E-75FBAE526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6858000" cy="238760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Synthetic data – Privacy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02CBF-93BB-F23D-2EC6-018AE6342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68580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tx2">
                    <a:alpha val="60000"/>
                  </a:schemeClr>
                </a:solidFill>
              </a:rPr>
              <a:t>Qinyi Liu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tx2">
                    <a:alpha val="60000"/>
                  </a:schemeClr>
                </a:solidFill>
              </a:rPr>
              <a:t>28</a:t>
            </a:r>
            <a:r>
              <a:rPr lang="en-US" sz="2000" baseline="30000" dirty="0">
                <a:solidFill>
                  <a:schemeClr val="tx2">
                    <a:alpha val="60000"/>
                  </a:schemeClr>
                </a:solidFill>
              </a:rPr>
              <a:t>th</a:t>
            </a:r>
            <a:r>
              <a:rPr lang="en-US" sz="2000" dirty="0">
                <a:solidFill>
                  <a:schemeClr val="tx2">
                    <a:alpha val="60000"/>
                  </a:schemeClr>
                </a:solidFill>
              </a:rPr>
              <a:t> April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tx2">
                    <a:alpha val="60000"/>
                  </a:schemeClr>
                </a:solidFill>
              </a:rPr>
              <a:t>Generative AI for Synthetic Data in Learning Analytics: Opportunities, Methods, and 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1E694-981B-5215-2ADF-12DD00F506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64289" r="3047" b="1"/>
          <a:stretch>
            <a:fillRect/>
          </a:stretch>
        </p:blipFill>
        <p:spPr>
          <a:xfrm>
            <a:off x="8069579" y="10"/>
            <a:ext cx="4110228" cy="6857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A0A081-ECD0-C882-77EC-43030CF23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" y="0"/>
            <a:ext cx="7772400" cy="152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1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1519-EFBA-0F61-AC09-A50E4E96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DC28D-7F05-3483-412B-F0A346364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data is synthetic (fake), why should we worry about privacy?</a:t>
            </a:r>
          </a:p>
        </p:txBody>
      </p:sp>
    </p:spTree>
    <p:extLst>
      <p:ext uri="{BB962C8B-B14F-4D97-AF65-F5344CB8AC3E}">
        <p14:creationId xmlns:p14="http://schemas.microsoft.com/office/powerpoint/2010/main" val="335835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9182-5E2F-990D-6B99-72533D3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from Utility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03EF8-3F58-6A24-8BBF-11C86EEE6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Utility asks:</a:t>
            </a:r>
          </a:p>
          <a:p>
            <a:r>
              <a:rPr lang="en-US" dirty="0"/>
              <a:t>Can synthetic data support useful analysis?</a:t>
            </a:r>
          </a:p>
          <a:p>
            <a:endParaRPr lang="en-US" dirty="0"/>
          </a:p>
          <a:p>
            <a:r>
              <a:rPr lang="en-US" dirty="0"/>
              <a:t>Privacy asks:</a:t>
            </a:r>
          </a:p>
          <a:p>
            <a:r>
              <a:rPr lang="en-US" dirty="0"/>
              <a:t>Can synthetic data expose real people or sensitive information?</a:t>
            </a:r>
          </a:p>
          <a:p>
            <a:pPr marL="2286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7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28D7-7C03-31FA-86ED-E0DBA7B1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from utility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60C78-CF49-10A2-61CD-852C5879F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point:</a:t>
            </a:r>
          </a:p>
          <a:p>
            <a:r>
              <a:rPr lang="en-US" dirty="0"/>
              <a:t>Useful data often preserves patterns. But those same patterns may carry privacy risks.</a:t>
            </a:r>
          </a:p>
        </p:txBody>
      </p:sp>
    </p:spTree>
    <p:extLst>
      <p:ext uri="{BB962C8B-B14F-4D97-AF65-F5344CB8AC3E}">
        <p14:creationId xmlns:p14="http://schemas.microsoft.com/office/powerpoint/2010/main" val="38265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788F-8CB3-AB3F-1F3E-012486DEE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581C-38F4-F8E6-564D-6AEAFF491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</a:t>
            </a:r>
          </a:p>
          <a:p>
            <a:r>
              <a:rPr lang="en-US" dirty="0"/>
              <a:t>3 types of privacy risks</a:t>
            </a:r>
          </a:p>
          <a:p>
            <a:r>
              <a:rPr lang="en-US" dirty="0"/>
              <a:t>How to evaluate privacy in synthetic data</a:t>
            </a:r>
          </a:p>
          <a:p>
            <a:r>
              <a:rPr lang="en-US" dirty="0"/>
              <a:t>”safe enough” take-away</a:t>
            </a:r>
          </a:p>
          <a:p>
            <a:r>
              <a:rPr lang="en-US" dirty="0"/>
              <a:t>Lab activity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13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A19F-F940-8903-BC0F-45BF1B92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an unusual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8F8DD-0B44-B2E8-56FA-124D98FF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 “Student A”</a:t>
            </a:r>
          </a:p>
          <a:p>
            <a:endParaRPr lang="en-US" sz="2400" dirty="0"/>
          </a:p>
          <a:p>
            <a:r>
              <a:rPr lang="en-GB" sz="2400" dirty="0"/>
              <a:t>Student A:</a:t>
            </a:r>
          </a:p>
          <a:p>
            <a:pPr lvl="1"/>
            <a:r>
              <a:rPr lang="en-GB" sz="2000" dirty="0"/>
              <a:t>logs in at 3 AM almost every day </a:t>
            </a:r>
          </a:p>
          <a:p>
            <a:pPr lvl="1"/>
            <a:r>
              <a:rPr lang="en-GB" sz="2000" dirty="0"/>
              <a:t>failed two courses in a row </a:t>
            </a:r>
          </a:p>
          <a:p>
            <a:pPr lvl="1"/>
            <a:r>
              <a:rPr lang="en-GB" sz="2000" dirty="0"/>
              <a:t>suddenly scored very high on one exam </a:t>
            </a:r>
          </a:p>
          <a:p>
            <a:pPr lvl="1"/>
            <a:r>
              <a:rPr lang="en-GB" sz="2000" dirty="0"/>
              <a:t>enrolled in a very niche course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D3D75-A4EA-B200-F476-3C2A31EAA4AC}"/>
              </a:ext>
            </a:extLst>
          </p:cNvPr>
          <p:cNvSpPr txBox="1"/>
          <p:nvPr/>
        </p:nvSpPr>
        <p:spPr>
          <a:xfrm>
            <a:off x="7024255" y="2895600"/>
            <a:ext cx="3034145" cy="1233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"This is not a name, nor is it an ID number. But it is a very unique learning trajectory."</a:t>
            </a:r>
          </a:p>
        </p:txBody>
      </p:sp>
    </p:spTree>
    <p:extLst>
      <p:ext uri="{BB962C8B-B14F-4D97-AF65-F5344CB8AC3E}">
        <p14:creationId xmlns:p14="http://schemas.microsoft.com/office/powerpoint/2010/main" val="368301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C8CE-181A-6EAF-31B5-F4D7C36E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B75C-F78E-5C3D-FD2D-DB1E4536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an unusual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974F9-34FE-1AF1-197C-C3AC80EFB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657"/>
            <a:ext cx="5936673" cy="3998306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FF0000">
                    <a:alpha val="70000"/>
                  </a:srgbClr>
                </a:solidFill>
              </a:rPr>
              <a:t>Privacy risk comes from patterns, not just identifiers.</a:t>
            </a:r>
          </a:p>
          <a:p>
            <a:r>
              <a:rPr lang="en-GB" sz="2400" dirty="0"/>
              <a:t>Examples of identifiers:</a:t>
            </a:r>
          </a:p>
          <a:p>
            <a:pPr lvl="1"/>
            <a:r>
              <a:rPr lang="en-GB" sz="2000" dirty="0"/>
              <a:t>name </a:t>
            </a:r>
          </a:p>
          <a:p>
            <a:pPr lvl="1"/>
            <a:r>
              <a:rPr lang="en-GB" sz="2000" dirty="0"/>
              <a:t>email </a:t>
            </a:r>
          </a:p>
          <a:p>
            <a:pPr lvl="1"/>
            <a:r>
              <a:rPr lang="en-GB" sz="2000" dirty="0"/>
              <a:t>student ID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C3B13-203A-9D38-2B69-6D354BF656A2}"/>
              </a:ext>
            </a:extLst>
          </p:cNvPr>
          <p:cNvSpPr txBox="1"/>
          <p:nvPr/>
        </p:nvSpPr>
        <p:spPr>
          <a:xfrm>
            <a:off x="6560128" y="3192925"/>
            <a:ext cx="479367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Examples of patterns: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rare course combination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unusual login </a:t>
            </a:r>
            <a:r>
              <a:rPr lang="en-GB" sz="2000" dirty="0" err="1"/>
              <a:t>behavior</a:t>
            </a:r>
            <a:r>
              <a:rPr lang="en-GB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grade trajectory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demographic subgroup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5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8CA3-A581-7EC5-4413-1EB511AB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privacy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2DA6E-948E-9724-8BD1-A5A2D191F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>
                    <a:alpha val="70000"/>
                  </a:srgbClr>
                </a:solidFill>
              </a:rPr>
              <a:t>Memorization risk</a:t>
            </a:r>
          </a:p>
          <a:p>
            <a:endParaRPr lang="en-US" dirty="0"/>
          </a:p>
          <a:p>
            <a:r>
              <a:rPr lang="en-US" dirty="0"/>
              <a:t>The model may "remember" real individuals.</a:t>
            </a:r>
          </a:p>
          <a:p>
            <a:endParaRPr lang="en-US" dirty="0"/>
          </a:p>
          <a:p>
            <a:r>
              <a:rPr lang="en-US" dirty="0"/>
              <a:t>In simpler terms:</a:t>
            </a:r>
          </a:p>
          <a:p>
            <a:endParaRPr lang="en-US" dirty="0"/>
          </a:p>
          <a:p>
            <a:r>
              <a:rPr lang="en-US" dirty="0"/>
              <a:t>Generative models don't just learn patterns; sometimes they also memorize answers.</a:t>
            </a:r>
          </a:p>
        </p:txBody>
      </p:sp>
    </p:spTree>
    <p:extLst>
      <p:ext uri="{BB962C8B-B14F-4D97-AF65-F5344CB8AC3E}">
        <p14:creationId xmlns:p14="http://schemas.microsoft.com/office/powerpoint/2010/main" val="412554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5E87-B59D-E09D-8FC2-941AFB60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64A3-F358-B44A-3355-DCC60C56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privacy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4605-37A4-D635-7758-71D88D844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>
                    <a:alpha val="70000"/>
                  </a:srgbClr>
                </a:solidFill>
              </a:rPr>
              <a:t>Memorization risk</a:t>
            </a:r>
          </a:p>
          <a:p>
            <a:endParaRPr lang="en-US" dirty="0"/>
          </a:p>
          <a:p>
            <a:r>
              <a:rPr lang="en-US" dirty="0"/>
              <a:t>The model may "remember" real individuals.</a:t>
            </a:r>
          </a:p>
          <a:p>
            <a:r>
              <a:rPr lang="en-US" dirty="0"/>
              <a:t>Learning analytics example in synthetic data:</a:t>
            </a:r>
          </a:p>
          <a:p>
            <a:endParaRPr lang="en-US" dirty="0"/>
          </a:p>
          <a:p>
            <a:pPr lvl="1"/>
            <a:r>
              <a:rPr lang="en-US" dirty="0"/>
              <a:t>a rare student trajectory appears almost unchanged</a:t>
            </a:r>
          </a:p>
          <a:p>
            <a:pPr lvl="1"/>
            <a:r>
              <a:rPr lang="en-US" dirty="0"/>
              <a:t>a rare subgroup profile is reproduced</a:t>
            </a:r>
          </a:p>
          <a:p>
            <a:pPr lvl="1"/>
            <a:r>
              <a:rPr lang="en-US" dirty="0"/>
              <a:t>an outlier record appears again in synthetic form</a:t>
            </a:r>
          </a:p>
        </p:txBody>
      </p:sp>
    </p:spTree>
    <p:extLst>
      <p:ext uri="{BB962C8B-B14F-4D97-AF65-F5344CB8AC3E}">
        <p14:creationId xmlns:p14="http://schemas.microsoft.com/office/powerpoint/2010/main" val="252166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EDF6-9388-F11A-CF91-A251E023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privacy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27D25-1895-7426-8155-2E99A2133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>
                    <a:alpha val="70000"/>
                  </a:srgbClr>
                </a:solidFill>
              </a:rPr>
              <a:t>Re-identification risk</a:t>
            </a:r>
          </a:p>
          <a:p>
            <a:r>
              <a:rPr lang="en-US" dirty="0"/>
              <a:t>Even without a name, a person can be identified through a combination of characteristics.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  <a:p>
            <a:endParaRPr lang="en-US" dirty="0"/>
          </a:p>
          <a:p>
            <a:r>
              <a:rPr lang="en-US" dirty="0"/>
              <a:t>Age + Courses + Grades + Login Time</a:t>
            </a:r>
          </a:p>
          <a:p>
            <a:r>
              <a:rPr lang="en-US" dirty="0"/>
              <a:t>This could be more revealing than a name.</a:t>
            </a:r>
          </a:p>
        </p:txBody>
      </p:sp>
    </p:spTree>
    <p:extLst>
      <p:ext uri="{BB962C8B-B14F-4D97-AF65-F5344CB8AC3E}">
        <p14:creationId xmlns:p14="http://schemas.microsoft.com/office/powerpoint/2010/main" val="405768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6BC8-2346-8D09-3A03-2B58113A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59EC-9DBA-5672-93A1-C0651084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privacy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37425-2FE0-2198-B02A-D9D33553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>
                    <a:alpha val="70000"/>
                  </a:srgbClr>
                </a:solidFill>
              </a:rPr>
              <a:t>Re-identification risk</a:t>
            </a:r>
          </a:p>
          <a:p>
            <a:endParaRPr lang="en-US" dirty="0"/>
          </a:p>
          <a:p>
            <a:r>
              <a:rPr lang="en-GB" dirty="0"/>
              <a:t>A person may be recognized through a unique combination of features.</a:t>
            </a:r>
          </a:p>
          <a:p>
            <a:r>
              <a:rPr lang="en-GB" dirty="0"/>
              <a:t>This risk is particularly high in small classes, special courses, and among minority groups.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500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342A-64C8-0313-CF20-0B199956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privacy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351F-9290-5F8C-D0D1-CF4B4FD75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>
                    <a:alpha val="70000"/>
                  </a:srgbClr>
                </a:solidFill>
              </a:rPr>
              <a:t>Attribute inference risk</a:t>
            </a:r>
          </a:p>
          <a:p>
            <a:r>
              <a:rPr lang="en-US" dirty="0"/>
              <a:t>Others might infer sensitive information about real students from synthetic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1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26A25-5A16-DE64-81FC-0CD35FC5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0068-3837-8E4D-E6D5-8DBF61C5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privacy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F687-F4AF-95EB-F9A9-BC689826C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>
                    <a:alpha val="70000"/>
                  </a:srgbClr>
                </a:solidFill>
              </a:rPr>
              <a:t>Attribute inference risk</a:t>
            </a:r>
          </a:p>
          <a:p>
            <a:r>
              <a:rPr lang="en-GB" dirty="0"/>
              <a:t>Even if a student is not directly identified, sensitive information may be inferred.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learning difficulty </a:t>
            </a:r>
          </a:p>
          <a:p>
            <a:pPr lvl="1"/>
            <a:r>
              <a:rPr lang="en-GB" dirty="0"/>
              <a:t>mental health concern </a:t>
            </a:r>
          </a:p>
          <a:p>
            <a:pPr lvl="1"/>
            <a:r>
              <a:rPr lang="en-GB" dirty="0"/>
              <a:t>disability status </a:t>
            </a:r>
          </a:p>
          <a:p>
            <a:pPr lvl="1"/>
            <a:r>
              <a:rPr lang="en-GB" dirty="0"/>
              <a:t>socioeconomic background </a:t>
            </a:r>
          </a:p>
          <a:p>
            <a:pPr lvl="1"/>
            <a:r>
              <a:rPr lang="en-GB" dirty="0"/>
              <a:t>dropout risk </a:t>
            </a:r>
          </a:p>
          <a:p>
            <a:pPr lvl="1"/>
            <a:r>
              <a:rPr lang="en-GB" dirty="0"/>
              <a:t>language background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94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060EB-9CE6-2AB6-3124-2E458707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B9F07-7739-9030-8A52-3D5B5EE33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09600"/>
            <a:ext cx="2952750" cy="5567363"/>
          </a:xfrm>
        </p:spPr>
        <p:txBody>
          <a:bodyPr anchor="ctr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Three types of privacy risks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E3DB8D-0FBC-2BE7-B821-452FDED80D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504300"/>
              </p:ext>
            </p:extLst>
          </p:nvPr>
        </p:nvGraphicFramePr>
        <p:xfrm>
          <a:off x="4124326" y="609600"/>
          <a:ext cx="7458074" cy="556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3556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ACE7-2B8D-4622-4951-8A50814D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Then how to evaluate synthetic data in privacy?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7396D-4E50-B9D8-5B47-7F94FE8B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similar is synthetic data to real data? (distance-based evaluation)</a:t>
            </a:r>
          </a:p>
          <a:p>
            <a:r>
              <a:rPr lang="en-US" dirty="0"/>
              <a:t>What can an attacker actually do?  (attack-based evaluation)</a:t>
            </a:r>
          </a:p>
        </p:txBody>
      </p:sp>
    </p:spTree>
    <p:extLst>
      <p:ext uri="{BB962C8B-B14F-4D97-AF65-F5344CB8AC3E}">
        <p14:creationId xmlns:p14="http://schemas.microsoft.com/office/powerpoint/2010/main" val="18023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8EDE-2922-CBE1-5222-C092581C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EA9-9FF6-ABA5-B28A-D9B60588A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 distributions very similar?</a:t>
            </a:r>
          </a:p>
          <a:p>
            <a:r>
              <a:rPr lang="en-US" dirty="0"/>
              <a:t>Are rare patterns preserved?</a:t>
            </a:r>
          </a:p>
          <a:p>
            <a:r>
              <a:rPr lang="en-US" dirty="0"/>
              <a:t>Are individual records too close?</a:t>
            </a:r>
          </a:p>
        </p:txBody>
      </p:sp>
    </p:spTree>
    <p:extLst>
      <p:ext uri="{BB962C8B-B14F-4D97-AF65-F5344CB8AC3E}">
        <p14:creationId xmlns:p14="http://schemas.microsoft.com/office/powerpoint/2010/main" val="3157527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0040-FEE6-66BC-BA38-E95A2A18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A88F76-C675-2DEC-0D3D-3B948E610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09" y="459547"/>
            <a:ext cx="11236036" cy="6243706"/>
          </a:xfrm>
          <a:prstGeom prst="rect">
            <a:avLst/>
          </a:prstGeom>
        </p:spPr>
      </p:pic>
      <p:sp>
        <p:nvSpPr>
          <p:cNvPr id="5" name="AutoShape 4" descr="Distance-based evaluation infographic on data privacy">
            <a:extLst>
              <a:ext uri="{FF2B5EF4-FFF2-40B4-BE49-F238E27FC236}">
                <a16:creationId xmlns:a16="http://schemas.microsoft.com/office/drawing/2014/main" id="{06B67FC9-495C-7B97-121D-A95947C4F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56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0164-DFA8-9B00-2484-41B84A4F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C68AA-7056-A7DD-BF36-48E429AF4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simple metrics:</a:t>
            </a:r>
          </a:p>
          <a:p>
            <a:endParaRPr lang="en-US" dirty="0"/>
          </a:p>
          <a:p>
            <a:r>
              <a:rPr lang="en-US" dirty="0"/>
              <a:t>Nearest </a:t>
            </a:r>
            <a:r>
              <a:rPr lang="en-US" dirty="0" err="1"/>
              <a:t>neighbour</a:t>
            </a:r>
            <a:r>
              <a:rPr lang="en-US" dirty="0"/>
              <a:t> distance</a:t>
            </a:r>
          </a:p>
          <a:p>
            <a:r>
              <a:rPr lang="en-US" dirty="0"/>
              <a:t>Average similarity score</a:t>
            </a:r>
          </a:p>
          <a:p>
            <a:r>
              <a:rPr lang="en-US" dirty="0"/>
              <a:t>Duplicate / exact match rate</a:t>
            </a:r>
          </a:p>
        </p:txBody>
      </p:sp>
    </p:spTree>
    <p:extLst>
      <p:ext uri="{BB962C8B-B14F-4D97-AF65-F5344CB8AC3E}">
        <p14:creationId xmlns:p14="http://schemas.microsoft.com/office/powerpoint/2010/main" val="1126569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51E70-56AA-655A-E4E9-5809BDC70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19F9CD66-32FC-448F-B4C5-67D17508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1174C-B598-4ED7-732B-A15E6CF8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57251"/>
            <a:ext cx="4581525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Distance-based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9A480-5832-7C36-A214-DE68A9200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190875"/>
            <a:ext cx="4581526" cy="29860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>
                    <a:alpha val="60000"/>
                  </a:schemeClr>
                </a:solidFill>
              </a:rPr>
              <a:t>Common simple metrics:</a:t>
            </a:r>
          </a:p>
          <a:p>
            <a:pPr>
              <a:lnSpc>
                <a:spcPct val="100000"/>
              </a:lnSpc>
            </a:pPr>
            <a:endParaRPr lang="en-US" sz="1800" dirty="0">
              <a:solidFill>
                <a:schemeClr val="tx2">
                  <a:alpha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0000">
                    <a:alpha val="60000"/>
                  </a:srgbClr>
                </a:solidFill>
              </a:rPr>
              <a:t>Nearest </a:t>
            </a:r>
            <a:r>
              <a:rPr lang="en-US" sz="1800" dirty="0" err="1">
                <a:solidFill>
                  <a:srgbClr val="FF0000">
                    <a:alpha val="60000"/>
                  </a:srgbClr>
                </a:solidFill>
              </a:rPr>
              <a:t>neighbour</a:t>
            </a:r>
            <a:r>
              <a:rPr lang="en-US" sz="1800" dirty="0">
                <a:solidFill>
                  <a:srgbClr val="FF0000">
                    <a:alpha val="60000"/>
                  </a:srgbClr>
                </a:solidFill>
              </a:rPr>
              <a:t> distance</a:t>
            </a:r>
            <a:r>
              <a:rPr lang="en-US" sz="1800" dirty="0">
                <a:solidFill>
                  <a:schemeClr val="tx2">
                    <a:alpha val="60000"/>
                  </a:schemeClr>
                </a:solidFill>
              </a:rPr>
              <a:t>: For each real student, we look for the most similar synthetic student.</a:t>
            </a:r>
          </a:p>
          <a:p>
            <a:pPr>
              <a:lnSpc>
                <a:spcPct val="100000"/>
              </a:lnSpc>
            </a:pPr>
            <a:endParaRPr lang="en-US" sz="1800" dirty="0">
              <a:solidFill>
                <a:schemeClr val="tx2">
                  <a:alpha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GB" sz="1800" dirty="0">
                <a:solidFill>
                  <a:schemeClr val="tx2">
                    <a:alpha val="60000"/>
                  </a:schemeClr>
                </a:solidFill>
              </a:rPr>
              <a:t>“How close is the closest synthetic twin?”</a:t>
            </a:r>
            <a:endParaRPr lang="en-US" sz="1800" dirty="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E09E6EAD-F787-2055-3723-3C93922354CE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0893" y="903652"/>
            <a:ext cx="5022907" cy="502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30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EC8E-2832-1B9D-3BA3-C3F3A690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rgbClr val="FF0000">
                    <a:alpha val="60000"/>
                  </a:srgbClr>
                </a:solidFill>
              </a:rPr>
              <a:t>Nearest </a:t>
            </a:r>
            <a:r>
              <a:rPr lang="en-US" sz="5400" dirty="0" err="1">
                <a:solidFill>
                  <a:srgbClr val="FF0000">
                    <a:alpha val="60000"/>
                  </a:srgbClr>
                </a:solidFill>
              </a:rPr>
              <a:t>neighbour</a:t>
            </a:r>
            <a:r>
              <a:rPr lang="en-US" sz="5400" dirty="0">
                <a:solidFill>
                  <a:srgbClr val="FF0000">
                    <a:alpha val="60000"/>
                  </a:srgbClr>
                </a:solidFill>
              </a:rPr>
              <a:t> distance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2467FC-ECFC-87BB-FDCF-A73F749EF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188" y="2006600"/>
            <a:ext cx="8662653" cy="414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77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192CE-F7F2-F0D0-C3A4-6215B6A0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F4DD1-F943-31EA-4146-7E1C26B4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57251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Distance-based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72E8-E2D0-BCDC-5787-9F6A7BDB1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0875"/>
            <a:ext cx="5914938" cy="29860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dirty="0">
                <a:solidFill>
                  <a:schemeClr val="tx2">
                    <a:alpha val="60000"/>
                  </a:schemeClr>
                </a:solidFill>
              </a:rPr>
              <a:t>Common simple metrics:</a:t>
            </a:r>
          </a:p>
          <a:p>
            <a:pPr>
              <a:lnSpc>
                <a:spcPct val="100000"/>
              </a:lnSpc>
            </a:pPr>
            <a:endParaRPr lang="en-US" sz="1900" dirty="0">
              <a:solidFill>
                <a:schemeClr val="tx2">
                  <a:alpha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900" dirty="0">
                <a:solidFill>
                  <a:srgbClr val="FF0000">
                    <a:alpha val="60000"/>
                  </a:srgbClr>
                </a:solidFill>
              </a:rPr>
              <a:t>Similarity score</a:t>
            </a:r>
            <a:r>
              <a:rPr lang="en-US" sz="1900" dirty="0">
                <a:solidFill>
                  <a:schemeClr val="tx2">
                    <a:alpha val="60000"/>
                  </a:schemeClr>
                </a:solidFill>
              </a:rPr>
              <a:t>: We measure how similar the overall data is.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>
                    <a:alpha val="60000"/>
                  </a:schemeClr>
                </a:solidFill>
              </a:rPr>
              <a:t>distributions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>
                    <a:alpha val="60000"/>
                  </a:schemeClr>
                </a:solidFill>
              </a:rPr>
              <a:t>patterns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solidFill>
                  <a:schemeClr val="tx2">
                    <a:alpha val="60000"/>
                  </a:schemeClr>
                </a:solidFill>
              </a:rPr>
              <a:t>correlations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solidFill>
                  <a:schemeClr val="tx2">
                    <a:alpha val="60000"/>
                  </a:schemeClr>
                </a:solidFill>
              </a:rPr>
              <a:t>“How similar do the two datasets look overall?”</a:t>
            </a:r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5BCB7140-AD97-146E-D423-887EF6B6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75" r="28321" b="-2"/>
          <a:stretch>
            <a:fillRect/>
          </a:stretch>
        </p:blipFill>
        <p:spPr>
          <a:xfrm>
            <a:off x="7236476" y="1"/>
            <a:ext cx="495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73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791F63-6FE5-29DA-2E6A-1ED308A7C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113" y="362906"/>
            <a:ext cx="9220662" cy="61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4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5A470-AF36-450B-A0D9-BDEB23F3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61638F-AF66-AB68-B980-FC6638803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8B7A0-B22D-AF13-C8E5-BAC29276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9549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Distance-based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92773-4DA7-F720-C16B-A983D10D2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72145"/>
            <a:ext cx="10245437" cy="39048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alpha val="60000"/>
                  </a:schemeClr>
                </a:solidFill>
              </a:rPr>
              <a:t>Common simple metrics: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tx2">
                  <a:alpha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>
                    <a:alpha val="60000"/>
                  </a:srgbClr>
                </a:solidFill>
              </a:rPr>
              <a:t>Exact match / duplicate rate</a:t>
            </a:r>
            <a:r>
              <a:rPr lang="en-US" sz="2400" dirty="0">
                <a:solidFill>
                  <a:schemeClr val="tx2">
                    <a:alpha val="60000"/>
                  </a:schemeClr>
                </a:solidFill>
              </a:rPr>
              <a:t>: Do any synthetic rows exactly match real rows?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alpha val="60000"/>
                  </a:schemeClr>
                </a:solidFill>
              </a:rPr>
              <a:t>👉 If: Exactly identical data exists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alpha val="60000"/>
                  </a:schemeClr>
                </a:solidFill>
              </a:rPr>
              <a:t>→ 🚨 A very obvious risk</a:t>
            </a:r>
          </a:p>
          <a:p>
            <a:pPr marL="228600" indent="0">
              <a:lnSpc>
                <a:spcPct val="100000"/>
              </a:lnSpc>
              <a:buNone/>
            </a:pPr>
            <a:endParaRPr lang="en-US" sz="2400" dirty="0">
              <a:solidFill>
                <a:schemeClr val="tx2">
                  <a:alpha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alpha val="60000"/>
                  </a:schemeClr>
                </a:solidFill>
              </a:rPr>
              <a:t>“Did we accidentally reproduce real individuals?”</a:t>
            </a:r>
          </a:p>
        </p:txBody>
      </p:sp>
    </p:spTree>
    <p:extLst>
      <p:ext uri="{BB962C8B-B14F-4D97-AF65-F5344CB8AC3E}">
        <p14:creationId xmlns:p14="http://schemas.microsoft.com/office/powerpoint/2010/main" val="4048738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E9B7-DE19-5EEB-A9A9-5B982230D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Attack-based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ABEBF-C448-B44F-AF76-14E2F9EF1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can someone actually infer?”</a:t>
            </a:r>
          </a:p>
          <a:p>
            <a:endParaRPr lang="en-US" dirty="0"/>
          </a:p>
          <a:p>
            <a:r>
              <a:rPr lang="en-US" dirty="0"/>
              <a:t>Common evaluation attacks:</a:t>
            </a:r>
          </a:p>
          <a:p>
            <a:pPr lvl="1"/>
            <a:r>
              <a:rPr lang="en-US" dirty="0"/>
              <a:t>Membership inference</a:t>
            </a:r>
          </a:p>
          <a:p>
            <a:pPr lvl="1"/>
            <a:r>
              <a:rPr lang="en-US" dirty="0"/>
              <a:t>Attribute inference</a:t>
            </a:r>
          </a:p>
          <a:p>
            <a:pPr lvl="1"/>
            <a:r>
              <a:rPr lang="en-US" dirty="0"/>
              <a:t>Re-identification attempts</a:t>
            </a:r>
          </a:p>
        </p:txBody>
      </p:sp>
    </p:spTree>
    <p:extLst>
      <p:ext uri="{BB962C8B-B14F-4D97-AF65-F5344CB8AC3E}">
        <p14:creationId xmlns:p14="http://schemas.microsoft.com/office/powerpoint/2010/main" val="2535734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61DF3E2F-0A88-4C55-8678-0764BF733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CBD46-4EDC-21EF-AC4F-3659C969F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09600"/>
            <a:ext cx="3200400" cy="5567363"/>
          </a:xfrm>
        </p:spPr>
        <p:txBody>
          <a:bodyPr anchor="ctr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Membership inference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106035-0AAB-8E0C-C33F-D755D4493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843538"/>
              </p:ext>
            </p:extLst>
          </p:nvPr>
        </p:nvGraphicFramePr>
        <p:xfrm>
          <a:off x="4293704" y="609600"/>
          <a:ext cx="7060095" cy="556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0701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3D1D-8C56-DF47-A00A-8EC52FD4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5DD6-3DAE-7FF8-7EB7-F649CCD6A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guess sensitive attributes from the data?</a:t>
            </a:r>
          </a:p>
          <a:p>
            <a:endParaRPr lang="en-US" dirty="0"/>
          </a:p>
          <a:p>
            <a:r>
              <a:rPr lang="en-US" dirty="0"/>
              <a:t>Examples, Predicting from behavior: dropout risk, learning difficulty</a:t>
            </a:r>
          </a:p>
          <a:p>
            <a:endParaRPr lang="en-US" dirty="0"/>
          </a:p>
          <a:p>
            <a:r>
              <a:rPr lang="en-US" dirty="0"/>
              <a:t> “Can we guess something sensitive about a student?”</a:t>
            </a:r>
          </a:p>
        </p:txBody>
      </p:sp>
    </p:spTree>
    <p:extLst>
      <p:ext uri="{BB962C8B-B14F-4D97-AF65-F5344CB8AC3E}">
        <p14:creationId xmlns:p14="http://schemas.microsoft.com/office/powerpoint/2010/main" val="2310089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8E0B-3BB4-64CC-0A38-9DD3FD27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Re-identification attempts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FB2A7-704D-E9D5-5FE1-ABDAFC0B4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link synthetic data back to real individuals?</a:t>
            </a:r>
          </a:p>
          <a:p>
            <a:pPr lvl="1"/>
            <a:r>
              <a:rPr lang="en-US" dirty="0"/>
              <a:t>matching patterns</a:t>
            </a:r>
          </a:p>
          <a:p>
            <a:pPr lvl="1"/>
            <a:r>
              <a:rPr lang="en-US" dirty="0"/>
              <a:t>combining features</a:t>
            </a:r>
          </a:p>
          <a:p>
            <a:endParaRPr lang="en-US" dirty="0"/>
          </a:p>
          <a:p>
            <a:r>
              <a:rPr lang="en-US" dirty="0"/>
              <a:t>“Can we connect synthetic data back to real people?”</a:t>
            </a:r>
          </a:p>
        </p:txBody>
      </p:sp>
    </p:spTree>
    <p:extLst>
      <p:ext uri="{BB962C8B-B14F-4D97-AF65-F5344CB8AC3E}">
        <p14:creationId xmlns:p14="http://schemas.microsoft.com/office/powerpoint/2010/main" val="2580347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8745BE2A-51FC-4767-8F23-FD32F628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2000">
                <a:srgbClr val="504CE5">
                  <a:alpha val="40000"/>
                </a:srgb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8802A7-5E31-EB38-E4C0-4ACE281A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2324101"/>
          </a:xfrm>
        </p:spPr>
        <p:txBody>
          <a:bodyPr anchor="ctr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In summary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228EA0-F775-09D6-7AC4-FDDFB45D22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991158"/>
              </p:ext>
            </p:extLst>
          </p:nvPr>
        </p:nvGraphicFramePr>
        <p:xfrm>
          <a:off x="838200" y="3257275"/>
          <a:ext cx="10515601" cy="28151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16069">
                  <a:extLst>
                    <a:ext uri="{9D8B030D-6E8A-4147-A177-3AD203B41FA5}">
                      <a16:colId xmlns:a16="http://schemas.microsoft.com/office/drawing/2014/main" val="1359196467"/>
                    </a:ext>
                  </a:extLst>
                </a:gridCol>
                <a:gridCol w="3068371">
                  <a:extLst>
                    <a:ext uri="{9D8B030D-6E8A-4147-A177-3AD203B41FA5}">
                      <a16:colId xmlns:a16="http://schemas.microsoft.com/office/drawing/2014/main" val="2455220771"/>
                    </a:ext>
                  </a:extLst>
                </a:gridCol>
                <a:gridCol w="4231161">
                  <a:extLst>
                    <a:ext uri="{9D8B030D-6E8A-4147-A177-3AD203B41FA5}">
                      <a16:colId xmlns:a16="http://schemas.microsoft.com/office/drawing/2014/main" val="3482498117"/>
                    </a:ext>
                  </a:extLst>
                </a:gridCol>
              </a:tblGrid>
              <a:tr h="938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Approach</a:t>
                      </a:r>
                    </a:p>
                  </a:txBody>
                  <a:tcPr marL="386702" marR="232021" marT="232021" marB="232021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What it checks</a:t>
                      </a:r>
                    </a:p>
                  </a:txBody>
                  <a:tcPr marL="386702" marR="232021" marT="232021" marB="23202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Example metric</a:t>
                      </a:r>
                    </a:p>
                  </a:txBody>
                  <a:tcPr marL="386702" marR="232021" marT="232021" marB="23202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822049"/>
                  </a:ext>
                </a:extLst>
              </a:tr>
              <a:tr h="938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Distance-based</a:t>
                      </a:r>
                    </a:p>
                  </a:txBody>
                  <a:tcPr marL="386702" marR="232021" marT="232021" marB="232021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similarity</a:t>
                      </a:r>
                    </a:p>
                  </a:txBody>
                  <a:tcPr marL="386702" marR="232021" marT="232021" marB="23202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nearest neighbour</a:t>
                      </a:r>
                    </a:p>
                  </a:txBody>
                  <a:tcPr marL="386702" marR="232021" marT="232021" marB="23202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36810"/>
                  </a:ext>
                </a:extLst>
              </a:tr>
              <a:tr h="938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Attack-based</a:t>
                      </a:r>
                    </a:p>
                  </a:txBody>
                  <a:tcPr marL="386702" marR="232021" marT="232021" marB="232021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inference risk</a:t>
                      </a:r>
                    </a:p>
                  </a:txBody>
                  <a:tcPr marL="386702" marR="232021" marT="232021" marB="23202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membership inference</a:t>
                      </a:r>
                    </a:p>
                  </a:txBody>
                  <a:tcPr marL="386702" marR="232021" marT="232021" marB="23202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591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268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4A9D-79E4-5B86-C3E0-A977874F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enough?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38D1F-4659-3C70-F184-EE72611C2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yourself three things before using synthetic learning data:</a:t>
            </a:r>
          </a:p>
          <a:p>
            <a:pPr lvl="1"/>
            <a:r>
              <a:rPr lang="en-US" dirty="0"/>
              <a:t>Who could be harmed?</a:t>
            </a:r>
          </a:p>
          <a:p>
            <a:pPr lvl="1"/>
            <a:r>
              <a:rPr lang="en-US" dirty="0"/>
              <a:t>What could be inferred?</a:t>
            </a:r>
          </a:p>
          <a:p>
            <a:pPr lvl="1"/>
            <a:r>
              <a:rPr lang="en-US" dirty="0"/>
              <a:t>How will the data be used?</a:t>
            </a:r>
          </a:p>
        </p:txBody>
      </p:sp>
    </p:spTree>
    <p:extLst>
      <p:ext uri="{BB962C8B-B14F-4D97-AF65-F5344CB8AC3E}">
        <p14:creationId xmlns:p14="http://schemas.microsoft.com/office/powerpoint/2010/main" val="3545417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684E-23DC-5E94-EFE3-5EF5E159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enough?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19D805-6C3E-75F1-C3C8-F6ECED8CE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554908"/>
              </p:ext>
            </p:extLst>
          </p:nvPr>
        </p:nvGraphicFramePr>
        <p:xfrm>
          <a:off x="1170709" y="2286000"/>
          <a:ext cx="9455728" cy="2286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27864">
                  <a:extLst>
                    <a:ext uri="{9D8B030D-6E8A-4147-A177-3AD203B41FA5}">
                      <a16:colId xmlns:a16="http://schemas.microsoft.com/office/drawing/2014/main" val="3663650645"/>
                    </a:ext>
                  </a:extLst>
                </a:gridCol>
                <a:gridCol w="4727864">
                  <a:extLst>
                    <a:ext uri="{9D8B030D-6E8A-4147-A177-3AD203B41FA5}">
                      <a16:colId xmlns:a16="http://schemas.microsoft.com/office/drawing/2014/main" val="2411043239"/>
                    </a:ext>
                  </a:extLst>
                </a:gridCol>
              </a:tblGrid>
              <a:tr h="247968">
                <a:tc>
                  <a:txBody>
                    <a:bodyPr/>
                    <a:lstStyle/>
                    <a:p>
                      <a:r>
                        <a:rPr lang="en-US" dirty="0"/>
                        <a:t>Questions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  <a:r>
                        <a:rPr lang="en-US" baseline="0" dirty="0"/>
                        <a:t> to ask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64943"/>
                  </a:ext>
                </a:extLst>
              </a:tr>
              <a:tr h="427999">
                <a:tc>
                  <a:txBody>
                    <a:bodyPr/>
                    <a:lstStyle/>
                    <a:p>
                      <a:r>
                        <a:rPr lang="en-GB" dirty="0"/>
                        <a:t>Who could be harmed?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Individual students? Small subgroups? Vulnerable learners?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623421"/>
                  </a:ext>
                </a:extLst>
              </a:tr>
              <a:tr h="427999">
                <a:tc>
                  <a:txBody>
                    <a:bodyPr/>
                    <a:lstStyle/>
                    <a:p>
                      <a:r>
                        <a:rPr lang="en-GB" dirty="0"/>
                        <a:t>What could be inferred?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Grades? Risk status? Disability? Mental health? Background?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492403"/>
                  </a:ext>
                </a:extLst>
              </a:tr>
              <a:tr h="427999">
                <a:tc>
                  <a:txBody>
                    <a:bodyPr/>
                    <a:lstStyle/>
                    <a:p>
                      <a:r>
                        <a:rPr lang="en-GB" dirty="0"/>
                        <a:t>How will it be used?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Teaching demo? Research sharing? Model training? Policy decision?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3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191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E6E6-22CA-0DD7-E4FC-4B3068FF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CBEF6-64D1-4F07-F96D-D1D83D57F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Student dataset (real)</a:t>
            </a:r>
          </a:p>
          <a:p>
            <a:endParaRPr lang="en-US" dirty="0"/>
          </a:p>
          <a:p>
            <a:r>
              <a:rPr lang="en-US" dirty="0"/>
              <a:t>ID | Age | Course        | Login </a:t>
            </a:r>
            <a:r>
              <a:rPr lang="en-US" dirty="0" err="1"/>
              <a:t>freq</a:t>
            </a:r>
            <a:r>
              <a:rPr lang="en-US" dirty="0"/>
              <a:t> | Study hours | Grade | Dropout</a:t>
            </a:r>
          </a:p>
          <a:p>
            <a:r>
              <a:rPr lang="en-US" dirty="0"/>
              <a:t>---------------------------------------------------------------------</a:t>
            </a:r>
          </a:p>
          <a:p>
            <a:r>
              <a:rPr lang="en-US" dirty="0"/>
              <a:t>1  | 19  | Computer Sci  | High       | 15          | B     | No</a:t>
            </a:r>
          </a:p>
          <a:p>
            <a:r>
              <a:rPr lang="en-US" dirty="0"/>
              <a:t>2  | 22  | Mathematics   | Low        | 5           | D     | Yes</a:t>
            </a:r>
          </a:p>
          <a:p>
            <a:r>
              <a:rPr lang="en-US" dirty="0"/>
              <a:t>3  | 21  | Biology       | Medium     | 10          | C     | No</a:t>
            </a:r>
          </a:p>
          <a:p>
            <a:r>
              <a:rPr lang="en-US" dirty="0"/>
              <a:t>4  | 23  | Philosophy    | Very Low   | 2           | A     | No</a:t>
            </a:r>
          </a:p>
          <a:p>
            <a:r>
              <a:rPr lang="en-US" dirty="0"/>
              <a:t>5  | 20  | Computer Sci  | Very High  | 25          | A     | No</a:t>
            </a:r>
          </a:p>
        </p:txBody>
      </p:sp>
    </p:spTree>
    <p:extLst>
      <p:ext uri="{BB962C8B-B14F-4D97-AF65-F5344CB8AC3E}">
        <p14:creationId xmlns:p14="http://schemas.microsoft.com/office/powerpoint/2010/main" val="1973125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8E44-6826-F225-DA20-5EDE4C45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7E6B-80CD-2F4C-6A8A-E26CA0534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Based on the dataset above, generate 20 synthetic students.</a:t>
            </a:r>
            <a:br>
              <a:rPr lang="en-GB" dirty="0"/>
            </a:br>
            <a:r>
              <a:rPr lang="en-GB" dirty="0"/>
              <a:t>Keep patterns realistic, but do not copy any individual.</a:t>
            </a:r>
          </a:p>
          <a:p>
            <a:endParaRPr lang="en-GB" dirty="0"/>
          </a:p>
          <a:p>
            <a:r>
              <a:rPr lang="en-GB" dirty="0"/>
              <a:t>👉 goal</a:t>
            </a:r>
            <a:r>
              <a:rPr lang="ja-JP" altLang="en-US"/>
              <a:t>：</a:t>
            </a:r>
          </a:p>
          <a:p>
            <a:r>
              <a:rPr lang="en-GB" dirty="0"/>
              <a:t>Generate synthetic student data AND evaluate if it is “safe enough”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892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B56A-48A3-6DA8-858F-87C0CAA4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part 1 – generate synthetic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FDD44-F013-F36D-254D-BEFDD9894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 coding required, use ChatGPT (or any LLM)</a:t>
            </a:r>
          </a:p>
          <a:p>
            <a:endParaRPr lang="en-US" dirty="0"/>
          </a:p>
          <a:p>
            <a:r>
              <a:rPr lang="en-US" dirty="0"/>
              <a:t>Prompt example (for reference):</a:t>
            </a:r>
          </a:p>
          <a:p>
            <a:r>
              <a:rPr lang="en-GB" dirty="0"/>
              <a:t>“Generate a synthetic dataset of 20 students with columns following the same pattern but not exactly the same.”</a:t>
            </a:r>
          </a:p>
          <a:p>
            <a:endParaRPr lang="en-GB" dirty="0"/>
          </a:p>
          <a:p>
            <a:r>
              <a:rPr lang="en-GB" dirty="0"/>
              <a:t>Very important: “Make the data realistic but not identical to real individuals.”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86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B28F-7A6D-6583-5D34-7B2A7357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Task Part 2 — Distance-based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7460-49BD-FB28-11B3-095AE8490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Question: Is your synthetic data too similar?</a:t>
            </a:r>
          </a:p>
          <a:p>
            <a:endParaRPr lang="en-US" dirty="0"/>
          </a:p>
          <a:p>
            <a:r>
              <a:rPr lang="en-GB" b="1" dirty="0"/>
              <a:t>Look for:</a:t>
            </a:r>
          </a:p>
          <a:p>
            <a:r>
              <a:rPr lang="en-GB" dirty="0"/>
              <a:t>Do you see any rows very similar to ID 4? </a:t>
            </a:r>
          </a:p>
          <a:p>
            <a:r>
              <a:rPr lang="en-GB" dirty="0"/>
              <a:t>Are rare combinations repeated? </a:t>
            </a:r>
          </a:p>
          <a:p>
            <a:r>
              <a:rPr lang="en-GB" dirty="0"/>
              <a:t>Are patterns like “low login → dropout” preserved?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432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3311-69A1-4DF3-D141-3E9275CB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 – define a scenario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8A2CD5-E8EE-4A37-09A2-9D92B263F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8442014"/>
              </p:ext>
            </p:extLst>
          </p:nvPr>
        </p:nvGraphicFramePr>
        <p:xfrm>
          <a:off x="1066803" y="2878138"/>
          <a:ext cx="10515597" cy="25654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5554043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6704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9744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Scenario A — 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Scenario B — Researcher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Scenario C — External party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 teacher uses the dataset to identify at-risk students.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researcher uses the dataset to study dropout patterns.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 external organization gets access to the dataset.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02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What decisions might the teacher make?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What conclusions might they draw?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What could they infer about student groups?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63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Could students be unfairly </a:t>
                      </a:r>
                      <a:r>
                        <a:rPr lang="en-GB" dirty="0" err="1"/>
                        <a:t>labeled</a:t>
                      </a:r>
                      <a:r>
                        <a:rPr lang="en-GB" dirty="0"/>
                        <a:t>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Could these conclusions be misleading or sensitive?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Could this affect certain populations?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400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08EA24-1E87-44BB-663B-D52E4DF357FE}"/>
              </a:ext>
            </a:extLst>
          </p:cNvPr>
          <p:cNvSpPr txBox="1"/>
          <p:nvPr/>
        </p:nvSpPr>
        <p:spPr>
          <a:xfrm>
            <a:off x="1066803" y="2286000"/>
            <a:ext cx="476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scenario </a:t>
            </a:r>
          </a:p>
        </p:txBody>
      </p:sp>
    </p:spTree>
    <p:extLst>
      <p:ext uri="{BB962C8B-B14F-4D97-AF65-F5344CB8AC3E}">
        <p14:creationId xmlns:p14="http://schemas.microsoft.com/office/powerpoint/2010/main" val="1908325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75FD-726D-76BC-0AFC-077A7C88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part 4 – decision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17CCD-10E9-BC0F-AF5D-3B9FF91DF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 your dataset safe enough?</a:t>
            </a:r>
          </a:p>
          <a:p>
            <a:r>
              <a:rPr lang="en-US" dirty="0"/>
              <a:t>Consider the 3 questions for your synthetic dataset</a:t>
            </a:r>
          </a:p>
          <a:p>
            <a:pPr lvl="1"/>
            <a:r>
              <a:rPr lang="en-US" dirty="0"/>
              <a:t>Who could be harmed?</a:t>
            </a:r>
          </a:p>
          <a:p>
            <a:pPr lvl="1"/>
            <a:r>
              <a:rPr lang="en-US" dirty="0"/>
              <a:t>What could be inferred?</a:t>
            </a:r>
          </a:p>
          <a:p>
            <a:pPr lvl="1"/>
            <a:r>
              <a:rPr lang="en-US" dirty="0"/>
              <a:t>How will the data be used?</a:t>
            </a:r>
          </a:p>
          <a:p>
            <a:endParaRPr lang="en-US" dirty="0"/>
          </a:p>
          <a:p>
            <a:r>
              <a:rPr lang="en-US" dirty="0"/>
              <a:t>The three questions are based on your Hypothetical Scenario</a:t>
            </a:r>
          </a:p>
        </p:txBody>
      </p:sp>
    </p:spTree>
    <p:extLst>
      <p:ext uri="{BB962C8B-B14F-4D97-AF65-F5344CB8AC3E}">
        <p14:creationId xmlns:p14="http://schemas.microsoft.com/office/powerpoint/2010/main" val="2708699908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1282</Words>
  <Application>Microsoft Macintosh PowerPoint</Application>
  <PresentationFormat>Widescreen</PresentationFormat>
  <Paragraphs>238</Paragraphs>
  <Slides>36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Avenir Next LT Pro</vt:lpstr>
      <vt:lpstr>Sabon Next LT</vt:lpstr>
      <vt:lpstr>Wingdings</vt:lpstr>
      <vt:lpstr>LuminousVTI</vt:lpstr>
      <vt:lpstr>Synthetic data – Privacy </vt:lpstr>
      <vt:lpstr>Questions ?</vt:lpstr>
      <vt:lpstr>Bridge from Utility Talk</vt:lpstr>
      <vt:lpstr>Bridge from utility talk</vt:lpstr>
      <vt:lpstr>Agenda</vt:lpstr>
      <vt:lpstr>Scenario: an unusual student</vt:lpstr>
      <vt:lpstr>Scenario: an unusual student</vt:lpstr>
      <vt:lpstr>Three types of privacy risks</vt:lpstr>
      <vt:lpstr>Three types of privacy risks</vt:lpstr>
      <vt:lpstr>Three types of privacy risks</vt:lpstr>
      <vt:lpstr>Three types of privacy risks</vt:lpstr>
      <vt:lpstr>Three types of privacy risks</vt:lpstr>
      <vt:lpstr>Three types of privacy risks</vt:lpstr>
      <vt:lpstr>Three types of privacy risks</vt:lpstr>
      <vt:lpstr>Then how to evaluate synthetic data in privacy?</vt:lpstr>
      <vt:lpstr>Distance-based methods</vt:lpstr>
      <vt:lpstr>PowerPoint Presentation</vt:lpstr>
      <vt:lpstr>Distance-based methods</vt:lpstr>
      <vt:lpstr>Distance-based methods</vt:lpstr>
      <vt:lpstr>Nearest neighbour distance</vt:lpstr>
      <vt:lpstr>Distance-based methods</vt:lpstr>
      <vt:lpstr>PowerPoint Presentation</vt:lpstr>
      <vt:lpstr>Distance-based methods</vt:lpstr>
      <vt:lpstr>Attack-based evaluation</vt:lpstr>
      <vt:lpstr>Membership inference</vt:lpstr>
      <vt:lpstr>Attribute inference</vt:lpstr>
      <vt:lpstr>Re-identification attempts</vt:lpstr>
      <vt:lpstr>In summary </vt:lpstr>
      <vt:lpstr>Safe enough?</vt:lpstr>
      <vt:lpstr>Safe enough?</vt:lpstr>
      <vt:lpstr>Lab Activity </vt:lpstr>
      <vt:lpstr>Lab activity </vt:lpstr>
      <vt:lpstr>Task part 1 – generate synthetic data </vt:lpstr>
      <vt:lpstr>Task Part 2 — Distance-based Evaluation</vt:lpstr>
      <vt:lpstr>Task 3 – define a scenario</vt:lpstr>
      <vt:lpstr>Task part 4 – decision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Qinyi Liu</dc:creator>
  <cp:lastModifiedBy>Qinyi Liu</cp:lastModifiedBy>
  <cp:revision>68</cp:revision>
  <dcterms:created xsi:type="dcterms:W3CDTF">2026-04-26T15:20:47Z</dcterms:created>
  <dcterms:modified xsi:type="dcterms:W3CDTF">2026-04-27T09:14:47Z</dcterms:modified>
</cp:coreProperties>
</file>
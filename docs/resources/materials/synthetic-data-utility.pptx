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953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4183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3327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99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704320" y="3200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183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755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3327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471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704320" y="3657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039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183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755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327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7899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471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704320" y="41148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467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039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611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4183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755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3327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7899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2471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704320" y="45720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467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039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9611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4183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8755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3327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7899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2471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704320" y="50292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0467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5039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9611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4183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8755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3327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7899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2471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704320" y="54864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0467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5039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9611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4183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8755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3327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07899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2471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1704320" y="5943600"/>
            <a:ext cx="73152" cy="73152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961120" y="2286000"/>
            <a:ext cx="3291840" cy="3291840"/>
          </a:xfrm>
          <a:prstGeom prst="ellipse">
            <a:avLst/>
          </a:prstGeom>
          <a:solidFill>
            <a:srgbClr val="0B0B10">
              <a:alpha val="0"/>
            </a:srgbClr>
          </a:solidFill>
          <a:ln w="254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09760" y="2834640"/>
            <a:ext cx="2194560" cy="2194560"/>
          </a:xfrm>
          <a:prstGeom prst="ellipse">
            <a:avLst/>
          </a:prstGeom>
          <a:solidFill>
            <a:srgbClr val="0B0B10">
              <a:alpha val="0"/>
            </a:srgbClr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058400" y="3383280"/>
            <a:ext cx="1097280" cy="109728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0" y="0"/>
            <a:ext cx="11064240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1064240" y="0"/>
            <a:ext cx="109728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WORKSHOP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0080" y="15544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Utility of</a:t>
            </a:r>
            <a:endParaRPr lang="en-US" sz="7600" dirty="0"/>
          </a:p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</a:t>
            </a:r>
            <a:endParaRPr lang="en-US" sz="7600" dirty="0"/>
          </a:p>
        </p:txBody>
      </p:sp>
      <p:sp>
        <p:nvSpPr>
          <p:cNvPr id="72" name="Shape 70"/>
          <p:cNvSpPr/>
          <p:nvPr/>
        </p:nvSpPr>
        <p:spPr>
          <a:xfrm>
            <a:off x="640080" y="4023360"/>
            <a:ext cx="1463040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4008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matters for learners, teachers, and researchers</a:t>
            </a:r>
            <a:endParaRPr lang="en-US" sz="2200" dirty="0"/>
          </a:p>
        </p:txBody>
      </p:sp>
      <p:pic>
        <p:nvPicPr>
          <p:cNvPr id="7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94960"/>
            <a:ext cx="457200" cy="457200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1234440" y="53766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chemeClr val="bg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 Urmian</a:t>
            </a:r>
            <a:r>
              <a:rPr lang="en-US" sz="1800" dirty="0">
                <a:solidFill>
                  <a:schemeClr val="bg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    </a:t>
            </a:r>
          </a:p>
          <a:p>
            <a:r>
              <a:rPr lang="en-US" cap="all" dirty="0">
                <a:solidFill>
                  <a:schemeClr val="bg1"/>
                </a:solidFill>
              </a:rPr>
              <a:t>Centre for the Science of Learning &amp; Technology (SLATE)</a:t>
            </a:r>
          </a:p>
          <a:p>
            <a:br>
              <a:rPr lang="en-US" dirty="0"/>
            </a:br>
            <a:endParaRPr lang="en-US" sz="1800" dirty="0"/>
          </a:p>
        </p:txBody>
      </p:sp>
      <p:sp>
        <p:nvSpPr>
          <p:cNvPr id="76" name="Text 73"/>
          <p:cNvSpPr/>
          <p:nvPr/>
        </p:nvSpPr>
        <p:spPr>
          <a:xfrm>
            <a:off x="1234440" y="5897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workshop on synthetic data for education research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9144000" y="5897880"/>
            <a:ext cx="2468880" cy="4572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914400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lasd.slateresearch.ai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education data paradox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 collect more student data than ever. Most of it never reaches the people who could learn from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429768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64592" cy="3291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 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of educational datasets are openly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shareable across institutions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reviews, FERPA, GDPR, IRB —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a months-long handshake.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2468880"/>
            <a:ext cx="65836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74920" y="2468880"/>
            <a:ext cx="73152" cy="9601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74320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0" y="2578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walls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3600" y="2926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student records carry FERPA, GDPR, and IRB constraints. Sharing across labs is rare.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74920" y="3611880"/>
            <a:ext cx="65836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74920" y="3611880"/>
            <a:ext cx="73152" cy="9601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88620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943600" y="3721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Sparse populations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4069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Rare students — under-represented groups, struggling learners — vanish in small samples.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74920" y="4754880"/>
            <a:ext cx="65836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74920" y="4754880"/>
            <a:ext cx="73152" cy="9601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50292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Reproducibility gap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943600" y="5212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Findings can't be replicated when the underlying data can't leave its institution.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So, what is synthetic data?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that </a:t>
            </a:r>
            <a:r>
              <a:rPr lang="en-US" sz="2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looks and behaves like real student data</a:t>
            </a:r>
            <a:r>
              <a:rPr lang="en-US" sz="28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but belongs to </a:t>
            </a:r>
            <a:r>
              <a:rPr lang="en-US" sz="2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real student.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4069080"/>
            <a:ext cx="3017520" cy="173736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43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data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7160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Sensitive,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hard to share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773168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3434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204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Generator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89204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Learns patterns,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not identities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773168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92440" y="4069080"/>
            <a:ext cx="301752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343400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841248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Shareable,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to explore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vs synthetic — at a glance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47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402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Actual student records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4028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Restricted — IRB &amp; consent required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Volume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4028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Whatever the institution collected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617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24028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Months of approvals, often blocked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5257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40280" y="5257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truth, including the ugly parts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659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1947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9224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90956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Generated from a learned model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9224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90956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real identities — much lower risk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9224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Volume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9095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As much as you need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92240" y="4617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90956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Drop into a paper, repo, or workshop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492240" y="5257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909560" y="5257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Whatever the source data — and the model — encoded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it's made — three flavours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three start with real data. They differ in how clever the recipe 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" y="2331720"/>
            <a:ext cx="370332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740" y="2331720"/>
            <a:ext cx="370332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57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3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2788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Statistical sampling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5780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Fit a distribution to each variable, then draw new rows from 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5780" y="5440680"/>
            <a:ext cx="54864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5780" y="5577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Simple. Fast. Loses the joins.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29100" y="2331720"/>
            <a:ext cx="370332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29100" y="2331720"/>
            <a:ext cx="3703320" cy="10972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4914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3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27889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914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Generative ML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549140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a GAN, VAE, or diffusion model to mimic the joint structure.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49140" y="5440680"/>
            <a:ext cx="54864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49140" y="5577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Captures correlations. Needs tuning.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252460" y="2331720"/>
            <a:ext cx="370332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52460" y="2331720"/>
            <a:ext cx="370332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57250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36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78892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7250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LLM-driven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572500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Prompt a language model to invent realistic learners and trajectories.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572500" y="5440680"/>
            <a:ext cx="54864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572500" y="5577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Rich, narrative-friendly. Hard to validate.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utility lives — four pillars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is useful when it unlocks one of these. If it doesn't, don't bother.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187452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17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697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057400" y="32461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 data without sharing students. Lower disclosure risk by design.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486400" cy="187452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278892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697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Access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772400" y="32461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 the data tap for collaborators, classrooms, and reviewers.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5486400" cy="187452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48920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120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800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Fairness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057400" y="53492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Stress-test models on populations the real data under-samples.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63640" y="4434840"/>
            <a:ext cx="5486400" cy="187452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629400" y="48920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51206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0" y="4800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7772400" y="53492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Prototype, teach, and benchmark long before the IRB letter arrives.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  · 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Sharing data without sharing students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learning analytics dataset travels — no student does.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93776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the field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D9E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district collected three years of LMS clickstream data. A research team in another country wants to study procrastination patterns. Real records can't cross the border; a synthetic copy can.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697480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2697480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model is trained on the real logs and never leaves the district. Only the model — or its outputs — is shared.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849624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3849624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1239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9400" y="4306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Patterns travel. Identities stay home. The receiving team works with realistic data on day one.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0" y="5001768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5001768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760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29400" y="5458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Memorisation of rare cases. Use disclosure-risk audits and differential-privacy training where possible.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  · 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Filling the gaps for rare learners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Augment under-represented populations so they're not invisible.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93776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the field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D9E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reading-intervention study has plenty of typical learners — but only 14 students with a specific learning disability. Models trained on this set will silently overlook them.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697480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2697480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Targeted synthetic samples thicken the tails of the distribution where the real data is thin.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849624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3849624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1239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9400" y="4306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Downstream models train on a more representative population — without inventing students from nothing.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0" y="5001768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5001768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760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29400" y="5458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Augmenting from a tiny seed risks amplifying its quirks. Anchor with domain expertise.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  · 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Stress-testing for fairness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 when the algorithm meets a learner it rarely sees?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93776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the field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D9E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 automated grading model performs well on average — but does it perform well for English-language learners? For students who type slowly? For students whose answers are unusually long?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697480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2697480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learners are crafted along controlled axes — language background, response length, learning trajectory.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849624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3849624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1239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9400" y="4306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can probe failure modes you'd never have enough real data to test cleanly.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0" y="5001768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5001768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760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29400" y="5458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doesn't mean neutral. The probe inherits the assumptions of whoever built it.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  · 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Common ground for the field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 benchmarks turn private work into shared progress.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93776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the field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D9E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papers claim the same modelling technique works — on two private datasets nobody else can touch. Replication, comparison, and incremental progress all stall.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697480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2697480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community releases a synthetic benchmark that mirrors the structure of real datasets it can't release.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849624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3849624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1239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9400" y="4306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Methods are compared on the same terms. New researchers can join without an institutional handshake.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0" y="5001768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5001768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760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29400" y="5458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Benchmarks can drift from reality. Treat them as a floor, not a finish line.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  · 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safe sandbox for students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Teach learning analytics with data that looks like the real thing.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937760" cy="3337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the field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D9E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graduate seminar needs realistic LMS data to practise on. The real records are governed by an IRB protocol that doesn't list 32 first-year masters students.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697480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2697480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Students work with synthetic records that mirror real schemas, scales, and edge cases.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849624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3849624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1239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9400" y="4306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Skills transfer to real datasets — with none of the consent paperwork or breach risk in the classroom.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0" y="5001768"/>
            <a:ext cx="5943600" cy="10332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5001768"/>
            <a:ext cx="73152" cy="10332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760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093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29400" y="54589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 explicit that conclusions drawn from synthetic data are about the data, not the students.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the utility shows up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quick map of the wins — most projects cash in on two or three at once.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2286000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2286000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Lower privacy risk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real identities to leak.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55264" y="2286000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55264" y="2286000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560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Faster collaboration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9584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Skip months of data agreements.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2286000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63056" y="2286000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560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7376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Richer populations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37376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Boost rare and minority groups.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70848" y="2286000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070848" y="2286000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25603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Fairness checks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45168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Probe edge cases on demand.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47472" y="4233672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47472" y="4233672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50799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1792" y="5010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Reproducible work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21792" y="5376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Benchmarks anyone can rerun.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255264" y="4233672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255264" y="4233672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4507992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29584" y="5010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Hands-on teaching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3529584" y="5376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Realistic, classroom-safe data.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163056" y="4233672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6163056" y="4233672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4507992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37376" y="5010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Faster prototyping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6437376" y="5376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Build before the IRB lands.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9070848" y="4233672"/>
            <a:ext cx="27432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9070848" y="4233672"/>
            <a:ext cx="27432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5168" y="4507992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345168" y="5010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Inclusive research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9345168" y="5376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Smaller institutions get a seat.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Honest about the trade-offs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is a powerful tool — not a silver bullet. The honest list: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91440" cy="6400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77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travels. </a:t>
            </a:r>
            <a:r>
              <a:rPr lang="en-US" sz="1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If the source data under-represents a group, the synthetic copy will too — sometimes more so.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999232"/>
            <a:ext cx="110642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999232"/>
            <a:ext cx="91440" cy="6400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363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0906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Validation is hard. </a:t>
            </a:r>
            <a:r>
              <a:rPr lang="en-US" sz="1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There's no universal test for 'realistic enough'. Utility depends on what you're going to do next.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12464"/>
            <a:ext cx="110642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3712464"/>
            <a:ext cx="91440" cy="6400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962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0390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is not automatic. </a:t>
            </a:r>
            <a:r>
              <a:rPr lang="en-US" sz="1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Models can memorise. Without controls — like differential privacy — rare records can leak through.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425696"/>
            <a:ext cx="110642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" y="4425696"/>
            <a:ext cx="91440" cy="6400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6285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5171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Distribution shift sneaks in. </a:t>
            </a:r>
            <a:r>
              <a:rPr lang="en-US" sz="1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is frozen in the moment its source was. Real classrooms keep moving.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5138928"/>
            <a:ext cx="110642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48640" y="5138928"/>
            <a:ext cx="91440" cy="64008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7608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5230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It's not a substitute for consent. </a:t>
            </a:r>
            <a:r>
              <a:rPr lang="en-US" sz="1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complements an ethics culture; it doesn't replace one.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Reach for it when… and skip it when…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40680" cy="5943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28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REACH FOR IT WHEN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5440680" cy="3886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stops a real-data project before it starts.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Rare or under-represented learners need a fairer test.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You're prototyping, teaching, or sharing a benchmark.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6344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617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need data right now and the IRB letter is six months out.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0352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8720" y="5257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want collaborators outside your institution to play along.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6217920" y="1783080"/>
            <a:ext cx="5440680" cy="59436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92808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800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THINK TWICE WHEN</a:t>
            </a:r>
            <a:endParaRPr lang="en-US" sz="1600" dirty="0"/>
          </a:p>
        </p:txBody>
      </p:sp>
      <p:sp>
        <p:nvSpPr>
          <p:cNvPr id="22" name="Shape 13"/>
          <p:cNvSpPr/>
          <p:nvPr/>
        </p:nvSpPr>
        <p:spPr>
          <a:xfrm>
            <a:off x="6217920" y="2286000"/>
            <a:ext cx="5440680" cy="914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4"/>
          <p:cNvSpPr/>
          <p:nvPr/>
        </p:nvSpPr>
        <p:spPr>
          <a:xfrm>
            <a:off x="6217920" y="2377440"/>
            <a:ext cx="5440680" cy="3886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4320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0372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Decisions about real students hinge on the result.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383280"/>
            <a:ext cx="292608" cy="29260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0372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source data is already too small to learn a model from.</a:t>
            </a:r>
            <a:endParaRPr lang="en-US" sz="13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92608" cy="29260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0372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can't validate the synthetic against any held-out reality.</a:t>
            </a:r>
            <a:endParaRPr lang="en-US" sz="13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63440"/>
            <a:ext cx="292608" cy="29260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903720" y="4617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It would be used to bypass consent or oversight conversations.</a:t>
            </a:r>
            <a:endParaRPr lang="en-US" sz="13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03520"/>
            <a:ext cx="292608" cy="29260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903720" y="5257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Stakes are high and the model's failure modes aren't audited.</a:t>
            </a:r>
            <a:endParaRPr lang="en-US" sz="1300" dirty="0"/>
          </a:p>
        </p:txBody>
      </p:sp>
      <p:sp>
        <p:nvSpPr>
          <p:cNvPr id="34" name="Text 2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5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Fidelity — does it look like the real thing?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Statistical resemblance between real and synthetic data, on three levels.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" y="2286000"/>
            <a:ext cx="370332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578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MARGINALS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Per-column distributions overlap.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" y="5349240"/>
            <a:ext cx="2971800" cy="0"/>
          </a:xfrm>
          <a:prstGeom prst="line">
            <a:avLst/>
          </a:prstGeom>
          <a:noFill/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" y="5029200"/>
            <a:ext cx="198120" cy="32004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2882" y="5074920"/>
            <a:ext cx="126797" cy="27432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4870" y="4846320"/>
            <a:ext cx="198120" cy="50292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0532" y="4892040"/>
            <a:ext cx="126797" cy="4572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2520" y="4572000"/>
            <a:ext cx="198120" cy="77724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8182" y="4636008"/>
            <a:ext cx="126797" cy="713232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60170" y="4389120"/>
            <a:ext cx="198120" cy="96012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95832" y="4434840"/>
            <a:ext cx="126797" cy="9144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07820" y="4114800"/>
            <a:ext cx="198120" cy="123444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3482" y="4160520"/>
            <a:ext cx="126797" cy="118872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55470" y="3840480"/>
            <a:ext cx="198120" cy="150876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91132" y="3931920"/>
            <a:ext cx="126797" cy="141732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03120" y="3931920"/>
            <a:ext cx="198120" cy="141732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38782" y="3977640"/>
            <a:ext cx="126797" cy="13716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50770" y="4160520"/>
            <a:ext cx="198120" cy="118872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86432" y="4114800"/>
            <a:ext cx="126797" cy="123444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98420" y="4480560"/>
            <a:ext cx="198120" cy="86868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34082" y="4434840"/>
            <a:ext cx="126797" cy="9144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46070" y="4754880"/>
            <a:ext cx="198120" cy="59436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81732" y="4709160"/>
            <a:ext cx="126797" cy="64008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93720" y="4983480"/>
            <a:ext cx="198120" cy="365760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29382" y="4937760"/>
            <a:ext cx="126797" cy="41148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41370" y="5148072"/>
            <a:ext cx="198120" cy="201168"/>
          </a:xfrm>
          <a:prstGeom prst="rect">
            <a:avLst/>
          </a:prstGeom>
          <a:solidFill>
            <a:srgbClr val="0066FF">
              <a:alpha val="70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77032" y="5120640"/>
            <a:ext cx="126797" cy="2286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" y="5532120"/>
            <a:ext cx="164592" cy="1371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18388" y="5486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77340" y="5532120"/>
            <a:ext cx="164592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778508" y="5486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29100" y="2286000"/>
            <a:ext cx="370332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034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CORRELATIONS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0342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Pairwise structure preserved.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32020" y="3200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32020" y="3474720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78908" y="3474720"/>
            <a:ext cx="246888" cy="246888"/>
          </a:xfrm>
          <a:prstGeom prst="rect">
            <a:avLst/>
          </a:prstGeom>
          <a:solidFill>
            <a:srgbClr val="035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225796" y="3474720"/>
            <a:ext cx="246888" cy="246888"/>
          </a:xfrm>
          <a:prstGeom prst="rect">
            <a:avLst/>
          </a:prstGeom>
          <a:solidFill>
            <a:srgbClr val="0950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72684" y="3474720"/>
            <a:ext cx="246888" cy="246888"/>
          </a:xfrm>
          <a:prstGeom prst="rect">
            <a:avLst/>
          </a:prstGeom>
          <a:solidFill>
            <a:srgbClr val="0E4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9572" y="3474720"/>
            <a:ext cx="246888" cy="246888"/>
          </a:xfrm>
          <a:prstGeom prst="rect">
            <a:avLst/>
          </a:prstGeom>
          <a:solidFill>
            <a:srgbClr val="123B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32020" y="3721608"/>
            <a:ext cx="246888" cy="246888"/>
          </a:xfrm>
          <a:prstGeom prst="rect">
            <a:avLst/>
          </a:prstGeom>
          <a:solidFill>
            <a:srgbClr val="035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978908" y="3721608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25796" y="3721608"/>
            <a:ext cx="246888" cy="246888"/>
          </a:xfrm>
          <a:prstGeom prst="rect">
            <a:avLst/>
          </a:prstGeom>
          <a:solidFill>
            <a:srgbClr val="0854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72684" y="3721608"/>
            <a:ext cx="246888" cy="246888"/>
          </a:xfrm>
          <a:prstGeom prst="rect">
            <a:avLst/>
          </a:prstGeom>
          <a:solidFill>
            <a:srgbClr val="0C49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19572" y="3721608"/>
            <a:ext cx="246888" cy="246888"/>
          </a:xfrm>
          <a:prstGeom prst="rect">
            <a:avLst/>
          </a:prstGeom>
          <a:solidFill>
            <a:srgbClr val="113E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32020" y="3968496"/>
            <a:ext cx="246888" cy="246888"/>
          </a:xfrm>
          <a:prstGeom prst="rect">
            <a:avLst/>
          </a:prstGeom>
          <a:solidFill>
            <a:srgbClr val="0950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978908" y="3968496"/>
            <a:ext cx="246888" cy="246888"/>
          </a:xfrm>
          <a:prstGeom prst="rect">
            <a:avLst/>
          </a:prstGeom>
          <a:solidFill>
            <a:srgbClr val="0854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225796" y="3968496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72684" y="3968496"/>
            <a:ext cx="246888" cy="246888"/>
          </a:xfrm>
          <a:prstGeom prst="rect">
            <a:avLst/>
          </a:prstGeom>
          <a:solidFill>
            <a:srgbClr val="0658D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719572" y="3968496"/>
            <a:ext cx="246888" cy="246888"/>
          </a:xfrm>
          <a:prstGeom prst="rect">
            <a:avLst/>
          </a:prstGeom>
          <a:solidFill>
            <a:srgbClr val="0F42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32020" y="4215384"/>
            <a:ext cx="246888" cy="246888"/>
          </a:xfrm>
          <a:prstGeom prst="rect">
            <a:avLst/>
          </a:prstGeom>
          <a:solidFill>
            <a:srgbClr val="0E4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78908" y="4215384"/>
            <a:ext cx="246888" cy="246888"/>
          </a:xfrm>
          <a:prstGeom prst="rect">
            <a:avLst/>
          </a:prstGeom>
          <a:solidFill>
            <a:srgbClr val="0C49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225796" y="4215384"/>
            <a:ext cx="246888" cy="246888"/>
          </a:xfrm>
          <a:prstGeom prst="rect">
            <a:avLst/>
          </a:prstGeom>
          <a:solidFill>
            <a:srgbClr val="0658D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472684" y="4215384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719572" y="4215384"/>
            <a:ext cx="246888" cy="246888"/>
          </a:xfrm>
          <a:prstGeom prst="rect">
            <a:avLst/>
          </a:prstGeom>
          <a:solidFill>
            <a:srgbClr val="0950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32020" y="4462272"/>
            <a:ext cx="246888" cy="246888"/>
          </a:xfrm>
          <a:prstGeom prst="rect">
            <a:avLst/>
          </a:prstGeom>
          <a:solidFill>
            <a:srgbClr val="123B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78908" y="4462272"/>
            <a:ext cx="246888" cy="246888"/>
          </a:xfrm>
          <a:prstGeom prst="rect">
            <a:avLst/>
          </a:prstGeom>
          <a:solidFill>
            <a:srgbClr val="113E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225796" y="4462272"/>
            <a:ext cx="246888" cy="246888"/>
          </a:xfrm>
          <a:prstGeom prst="rect">
            <a:avLst/>
          </a:prstGeom>
          <a:solidFill>
            <a:srgbClr val="0F42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472684" y="4462272"/>
            <a:ext cx="246888" cy="246888"/>
          </a:xfrm>
          <a:prstGeom prst="rect">
            <a:avLst/>
          </a:prstGeom>
          <a:solidFill>
            <a:srgbClr val="0950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719572" y="4462272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195060" y="3200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95060" y="3474720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441948" y="3474720"/>
            <a:ext cx="246888" cy="246888"/>
          </a:xfrm>
          <a:prstGeom prst="rect">
            <a:avLst/>
          </a:prstGeom>
          <a:solidFill>
            <a:srgbClr val="035E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688836" y="3474720"/>
            <a:ext cx="246888" cy="246888"/>
          </a:xfrm>
          <a:prstGeom prst="rect">
            <a:avLst/>
          </a:prstGeom>
          <a:solidFill>
            <a:srgbClr val="0951B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935724" y="3474720"/>
            <a:ext cx="246888" cy="246888"/>
          </a:xfrm>
          <a:prstGeom prst="rect">
            <a:avLst/>
          </a:prstGeom>
          <a:solidFill>
            <a:srgbClr val="0D46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182612" y="3474720"/>
            <a:ext cx="246888" cy="246888"/>
          </a:xfrm>
          <a:prstGeom prst="rect">
            <a:avLst/>
          </a:prstGeom>
          <a:solidFill>
            <a:srgbClr val="123C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195060" y="3721608"/>
            <a:ext cx="246888" cy="246888"/>
          </a:xfrm>
          <a:prstGeom prst="rect">
            <a:avLst/>
          </a:prstGeom>
          <a:solidFill>
            <a:srgbClr val="035E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441948" y="3721608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688836" y="3721608"/>
            <a:ext cx="246888" cy="246888"/>
          </a:xfrm>
          <a:prstGeom prst="rect">
            <a:avLst/>
          </a:prstGeom>
          <a:solidFill>
            <a:srgbClr val="0853C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935724" y="3721608"/>
            <a:ext cx="246888" cy="246888"/>
          </a:xfrm>
          <a:prstGeom prst="rect">
            <a:avLst/>
          </a:prstGeom>
          <a:solidFill>
            <a:srgbClr val="0C4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182612" y="3721608"/>
            <a:ext cx="246888" cy="246888"/>
          </a:xfrm>
          <a:prstGeom prst="rect">
            <a:avLst/>
          </a:prstGeom>
          <a:solidFill>
            <a:srgbClr val="103F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195060" y="3968496"/>
            <a:ext cx="246888" cy="246888"/>
          </a:xfrm>
          <a:prstGeom prst="rect">
            <a:avLst/>
          </a:prstGeom>
          <a:solidFill>
            <a:srgbClr val="0951B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441948" y="3968496"/>
            <a:ext cx="246888" cy="246888"/>
          </a:xfrm>
          <a:prstGeom prst="rect">
            <a:avLst/>
          </a:prstGeom>
          <a:solidFill>
            <a:srgbClr val="0853C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688836" y="3968496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935724" y="3968496"/>
            <a:ext cx="246888" cy="246888"/>
          </a:xfrm>
          <a:prstGeom prst="rect">
            <a:avLst/>
          </a:prstGeom>
          <a:solidFill>
            <a:srgbClr val="0657D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182612" y="3968496"/>
            <a:ext cx="246888" cy="246888"/>
          </a:xfrm>
          <a:prstGeom prst="rect">
            <a:avLst/>
          </a:prstGeom>
          <a:solidFill>
            <a:srgbClr val="0F43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195060" y="4215384"/>
            <a:ext cx="246888" cy="246888"/>
          </a:xfrm>
          <a:prstGeom prst="rect">
            <a:avLst/>
          </a:prstGeom>
          <a:solidFill>
            <a:srgbClr val="0D46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441948" y="4215384"/>
            <a:ext cx="246888" cy="246888"/>
          </a:xfrm>
          <a:prstGeom prst="rect">
            <a:avLst/>
          </a:prstGeom>
          <a:solidFill>
            <a:srgbClr val="0C4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688836" y="4215384"/>
            <a:ext cx="246888" cy="246888"/>
          </a:xfrm>
          <a:prstGeom prst="rect">
            <a:avLst/>
          </a:prstGeom>
          <a:solidFill>
            <a:srgbClr val="0657D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935724" y="4215384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82612" y="4215384"/>
            <a:ext cx="246888" cy="246888"/>
          </a:xfrm>
          <a:prstGeom prst="rect">
            <a:avLst/>
          </a:prstGeom>
          <a:solidFill>
            <a:srgbClr val="0950B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195060" y="4462272"/>
            <a:ext cx="246888" cy="246888"/>
          </a:xfrm>
          <a:prstGeom prst="rect">
            <a:avLst/>
          </a:prstGeom>
          <a:solidFill>
            <a:srgbClr val="123C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441948" y="4462272"/>
            <a:ext cx="246888" cy="246888"/>
          </a:xfrm>
          <a:prstGeom prst="rect">
            <a:avLst/>
          </a:prstGeom>
          <a:solidFill>
            <a:srgbClr val="103F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6688836" y="4462272"/>
            <a:ext cx="246888" cy="246888"/>
          </a:xfrm>
          <a:prstGeom prst="rect">
            <a:avLst/>
          </a:prstGeom>
          <a:solidFill>
            <a:srgbClr val="0F43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935724" y="4462272"/>
            <a:ext cx="246888" cy="246888"/>
          </a:xfrm>
          <a:prstGeom prst="rect">
            <a:avLst/>
          </a:prstGeom>
          <a:solidFill>
            <a:srgbClr val="0950B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182612" y="4462272"/>
            <a:ext cx="246888" cy="246888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503420" y="5486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low ◯ high correlation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206740" y="2286000"/>
            <a:ext cx="370332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48106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PROJECTIONS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48106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Clouds occupy the same space.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72500" y="5349240"/>
            <a:ext cx="2971800" cy="0"/>
          </a:xfrm>
          <a:prstGeom prst="line">
            <a:avLst/>
          </a:prstGeom>
          <a:noFill/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572500" y="3429000"/>
            <a:ext cx="0" cy="1920240"/>
          </a:xfrm>
          <a:prstGeom prst="line">
            <a:avLst/>
          </a:prstGeom>
          <a:noFill/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025435" y="4220615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731345" y="415368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106541" y="4145859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0293788" y="402075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227141" y="4352559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398251" y="383970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9517760" y="427166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9334222" y="4237126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9487022" y="4311036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9127366" y="433252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579064" y="4214852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0413445" y="442732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864324" y="4078603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9730713" y="426538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9100376" y="4098570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9431869" y="4367599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0007312" y="378652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349348" y="4197562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9257204" y="4288519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9976228" y="390640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9359234" y="4091481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0330614" y="400614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9617681" y="377763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9337091" y="4215679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9252927" y="4364721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592428" y="4578686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9697543" y="4150046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9476136" y="4223791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9932378" y="4174734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9299132" y="454480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9854599" y="4285411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9121322" y="414029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8818594" y="4074066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9159850" y="416833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9537906" y="411509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9552278" y="4307028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9464784" y="3841087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10137492" y="4631223"/>
            <a:ext cx="109728" cy="109728"/>
          </a:xfrm>
          <a:prstGeom prst="ellipse">
            <a:avLst/>
          </a:prstGeom>
          <a:solidFill>
            <a:srgbClr val="0066FF">
              <a:alpha val="65000"/>
            </a:srgbClr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9581776" y="4640827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10068965" y="450709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10305963" y="3946922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9655090" y="427460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9398867" y="420860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854133" y="480539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0260104" y="404853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635742" y="4339620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9509994" y="4152622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8878370" y="465661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9781284" y="425988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0074674" y="4152988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9728829" y="4273954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10424523" y="4572858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9037914" y="401895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0025431" y="4422463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9032131" y="432410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9199319" y="444424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9421633" y="420248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9847962" y="3924947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9663527" y="430572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9685201" y="4324177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9454997" y="410979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10186819" y="4483064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9650609" y="4309792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9664286" y="425166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9613107" y="4680557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10070498" y="4114978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9665511" y="423524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9726406" y="4562192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770821" y="4458966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284323" y="4725350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9437130" y="4145199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9461812" y="4021358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0009656" y="4498514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9946542" y="4671888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9578697" y="4696695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9843059" y="4044291"/>
            <a:ext cx="91440" cy="91440"/>
          </a:xfrm>
          <a:prstGeom prst="ellipse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572500" y="5559552"/>
            <a:ext cx="137160" cy="13716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8755380" y="5486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9532620" y="5559552"/>
            <a:ext cx="137160" cy="1371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9715500" y="5486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179" name="Text 17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180" name="Text 17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Fidelity ≠ Utility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Looking realistic isn't enough — synthetic data has to work for the task.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85216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5852160"/>
            <a:ext cx="4937760" cy="0"/>
          </a:xfrm>
          <a:prstGeom prst="line">
            <a:avLst/>
          </a:prstGeom>
          <a:noFill/>
          <a:ln w="19050">
            <a:solidFill>
              <a:srgbClr val="0F11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0" cy="3108960"/>
          </a:xfrm>
          <a:prstGeom prst="line">
            <a:avLst/>
          </a:prstGeom>
          <a:noFill/>
          <a:ln w="19050">
            <a:solidFill>
              <a:srgbClr val="0F11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2743200"/>
            <a:ext cx="0" cy="3108960"/>
          </a:xfrm>
          <a:prstGeom prst="line">
            <a:avLst/>
          </a:prstGeom>
          <a:noFill/>
          <a:ln w="12700">
            <a:solidFill>
              <a:srgbClr val="C9CD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297680"/>
            <a:ext cx="4937760" cy="0"/>
          </a:xfrm>
          <a:prstGeom prst="line">
            <a:avLst/>
          </a:prstGeom>
          <a:noFill/>
          <a:ln w="12700">
            <a:solidFill>
              <a:srgbClr val="C9CD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Fidelity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 rot="-5400000">
            <a:off x="27432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Utility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12925" y="5127955"/>
            <a:ext cx="329184" cy="329184"/>
          </a:xfrm>
          <a:prstGeom prst="ellipse">
            <a:avLst/>
          </a:prstGeom>
          <a:solidFill>
            <a:srgbClr val="8A8F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06117" y="4423867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5581" y="5127955"/>
            <a:ext cx="329184" cy="329184"/>
          </a:xfrm>
          <a:prstGeom prst="ellipse">
            <a:avLst/>
          </a:prstGeom>
          <a:solidFill>
            <a:srgbClr val="FFB54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48533" y="4423867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Looks great,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fails the 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12925" y="3262579"/>
            <a:ext cx="329184" cy="329184"/>
          </a:xfrm>
          <a:prstGeom prst="ellipse">
            <a:avLst/>
          </a:prstGeom>
          <a:solidFill>
            <a:srgbClr val="00E5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6117" y="3655771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Wrong-looking,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still works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75581" y="3262579"/>
            <a:ext cx="329184" cy="329184"/>
          </a:xfrm>
          <a:prstGeom prst="ellipse">
            <a:avLst/>
          </a:prstGeom>
          <a:solidFill>
            <a:srgbClr val="0066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48533" y="3655771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286000"/>
            <a:ext cx="484632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2286000"/>
            <a:ext cx="73152" cy="12801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56032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0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Beautiful histograms, broken model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model can mimic every marginal yet destroy the joint structure that downstream tasks rely 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58000" y="3749040"/>
            <a:ext cx="484632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858000" y="3749040"/>
            <a:ext cx="73152" cy="12801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2336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72400" y="3913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Sometimes 'wrong' is right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772400" y="4297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Slightly off distributions can still train an excellent classifier — if the task-relevant signal is preserved.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858000" y="5212080"/>
            <a:ext cx="484632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858000" y="5212080"/>
            <a:ext cx="73152" cy="12801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486400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772400" y="5376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Always test the use case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7772400" y="5760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Pick a downstream evaluation that mirrors what you'd actually do with real data.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you actually do with it — downstream tasks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only earns its keep when something downstream uses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6360" y="3657600"/>
            <a:ext cx="1828800" cy="16459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886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6360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39319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393192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TSTR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5087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on Synthetic, Test on Real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well does a model trained on synth generalise to real?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89520" y="2331720"/>
            <a:ext cx="39319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589520" y="2331720"/>
            <a:ext cx="393192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582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on Real, Test on Synthetic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8181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Sanity check: does the synth distribution behave like real?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5029200"/>
            <a:ext cx="39319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0080" y="5029200"/>
            <a:ext cx="393192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035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Augmentation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50876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+ Synthetic combined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68680" y="5943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up small or imbalanced classes during training.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589520" y="5029200"/>
            <a:ext cx="39319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589520" y="5029200"/>
            <a:ext cx="393192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53035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5820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release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45820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instead of real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818120" y="5943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Publish a usable proxy when the real data can't leave.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166360" y="4069080"/>
            <a:ext cx="0" cy="0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995160" y="4069080"/>
            <a:ext cx="594360" cy="0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5166360" y="4892040"/>
            <a:ext cx="0" cy="822960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995160" y="4892040"/>
            <a:ext cx="594360" cy="822960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practice: predicting at-risk students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real downstream task — and what synthetic data adds to the pipeline.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6676" y="2286000"/>
            <a:ext cx="1965960" cy="132588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2476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LMS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5276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weeks of clicks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07208" y="2948940"/>
            <a:ext cx="155448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67228" y="2286000"/>
            <a:ext cx="1965960" cy="13258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28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3028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TabDM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195828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DC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Diffusion in feature space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37760" y="2948940"/>
            <a:ext cx="155448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97780" y="2286000"/>
            <a:ext cx="196596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380" y="2468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83580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 rows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26380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10× the original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068312" y="2948940"/>
            <a:ext cx="155448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228332" y="2286000"/>
            <a:ext cx="1965960" cy="132588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932" y="2468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14132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56932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Predict 'at risk'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198864" y="2948940"/>
            <a:ext cx="155448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358884" y="2286000"/>
            <a:ext cx="196596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7484" y="24688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44684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 on real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587484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Held-out cohort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2920" y="4069080"/>
            <a:ext cx="6126480" cy="22860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77240" y="4251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F1 score on the same held-out cohort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1965960" y="6080760"/>
            <a:ext cx="4297680" cy="0"/>
          </a:xfrm>
          <a:prstGeom prst="line">
            <a:avLst/>
          </a:prstGeom>
          <a:noFill/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965960" y="4709160"/>
            <a:ext cx="0" cy="1371600"/>
          </a:xfrm>
          <a:prstGeom prst="line">
            <a:avLst/>
          </a:prstGeom>
          <a:noFill/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2457450" y="5065776"/>
            <a:ext cx="777240" cy="101498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2274570" y="47457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0.74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2091690" y="6126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only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726180" y="5134356"/>
            <a:ext cx="777240" cy="946404"/>
          </a:xfrm>
          <a:prstGeom prst="rect">
            <a:avLst/>
          </a:prstGeom>
          <a:solidFill>
            <a:srgbClr val="8A8F9A"/>
          </a:solidFill>
          <a:ln w="12700">
            <a:solidFill>
              <a:srgbClr val="8A8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3543300" y="48143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0.69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60420" y="6126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 only (TSTR)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994910" y="4969764"/>
            <a:ext cx="777240" cy="11109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4812030" y="46497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0.81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629150" y="6126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+ Synth aug.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1508760" y="5971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0.0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508760" y="5285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0.5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508760" y="45994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1.0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812280" y="4069080"/>
            <a:ext cx="48463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812280" y="4069080"/>
            <a:ext cx="91440" cy="2286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717804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7178040" y="4663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+0.07 F1 from augmentation</a:t>
            </a:r>
            <a:endParaRPr lang="en-US" sz="2200" dirty="0"/>
          </a:p>
        </p:txBody>
      </p:sp>
      <p:sp>
        <p:nvSpPr>
          <p:cNvPr id="50" name="Text 43"/>
          <p:cNvSpPr/>
          <p:nvPr/>
        </p:nvSpPr>
        <p:spPr>
          <a:xfrm>
            <a:off x="717804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alone underperforms real (TSTR drop). But mixing synthetic with real lifts the model on the hardest cases — </a:t>
            </a:r>
            <a:r>
              <a:rPr lang="en-US" sz="12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students who appear rarely in the training data.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is synthetic tabular data generated?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Four families of methods — each with a distinctive mental picture.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532120" cy="192024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42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Statistical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951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Joint distributions or Bayesian networks fit to the columns.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353" y="2816352"/>
            <a:ext cx="630662" cy="448056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44566" y="2816352"/>
            <a:ext cx="0" cy="448056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015" y="3264408"/>
            <a:ext cx="0" cy="38404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9015" y="3264408"/>
            <a:ext cx="630662" cy="38404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23761" y="2651760"/>
            <a:ext cx="329184" cy="329184"/>
          </a:xfrm>
          <a:prstGeom prst="ellipse">
            <a:avLst/>
          </a:prstGeom>
          <a:solidFill>
            <a:srgbClr val="006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79974" y="2651760"/>
            <a:ext cx="329184" cy="329184"/>
          </a:xfrm>
          <a:prstGeom prst="ellipse">
            <a:avLst/>
          </a:prstGeom>
          <a:solidFill>
            <a:srgbClr val="006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423" y="3099816"/>
            <a:ext cx="329184" cy="329184"/>
          </a:xfrm>
          <a:prstGeom prst="ellipse">
            <a:avLst/>
          </a:prstGeom>
          <a:solidFill>
            <a:srgbClr val="006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28871" y="3483864"/>
            <a:ext cx="329184" cy="329184"/>
          </a:xfrm>
          <a:prstGeom prst="ellipse">
            <a:avLst/>
          </a:prstGeom>
          <a:solidFill>
            <a:srgbClr val="006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85084" y="3483864"/>
            <a:ext cx="329184" cy="329184"/>
          </a:xfrm>
          <a:prstGeom prst="ellipse">
            <a:avLst/>
          </a:prstGeom>
          <a:solidFill>
            <a:srgbClr val="006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81928" y="2240280"/>
            <a:ext cx="5532120" cy="192024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1968" y="2468880"/>
            <a:ext cx="3042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Rule-based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01968" y="2926080"/>
            <a:ext cx="2951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Hand-coded constraints and templates from domain knowledge.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46920" y="2688336"/>
            <a:ext cx="777240" cy="32004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46920" y="26883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880446" y="2688336"/>
            <a:ext cx="777240" cy="32004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880446" y="26883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46920" y="3264408"/>
            <a:ext cx="777240" cy="32004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46920" y="32644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80446" y="3264408"/>
            <a:ext cx="777240" cy="32004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880446" y="32644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424160" y="2848356"/>
            <a:ext cx="456286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35540" y="3008376"/>
            <a:ext cx="0" cy="256032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424160" y="3424428"/>
            <a:ext cx="456286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69066" y="3008376"/>
            <a:ext cx="0" cy="256032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361688"/>
            <a:ext cx="5532120" cy="192024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590288"/>
            <a:ext cx="3042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GANs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5047488"/>
            <a:ext cx="2951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generator competes with a discriminator until samples fool it.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13632" y="5116068"/>
            <a:ext cx="777240" cy="50292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3632" y="51160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147158" y="5116068"/>
            <a:ext cx="77724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47158" y="51160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36592" y="5234940"/>
            <a:ext cx="36484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16552" y="4786884"/>
            <a:ext cx="10049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samples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01438" y="5500116"/>
            <a:ext cx="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16552" y="5655564"/>
            <a:ext cx="10049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81928" y="4361688"/>
            <a:ext cx="5532120" cy="192024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01968" y="4590288"/>
            <a:ext cx="3042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Diffusion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601968" y="5047488"/>
            <a:ext cx="2951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Add noise to the data, then learn to reverse the process step by step.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5171023"/>
            <a:ext cx="301569" cy="301569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793627" y="541624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827928" y="539361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835858" y="526270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75939" y="519478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966201" y="528291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705139" y="5374455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823520" y="5406120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699590" y="533695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906705" y="5282364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733755" y="524608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731756" y="535468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937940" y="5388525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808736" y="5418328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861653" y="543665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899367" y="5190326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847417" y="5420244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888234" y="5381790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891510" y="5391426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950321" y="535235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912023" y="529062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039929" y="5171023"/>
            <a:ext cx="301569" cy="301569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043750" y="5178150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031668" y="5289705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209153" y="5285535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021466" y="5392746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209499" y="519063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028638" y="5152024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096912" y="5369997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317523" y="5390337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13392" y="514975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069044" y="5210424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154692" y="538620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262369" y="5379240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038382" y="531612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123101" y="5278753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274524" y="5337875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0387218" y="5171023"/>
            <a:ext cx="301569" cy="301569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595442" y="524161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0536977" y="518579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582448" y="5308360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0366993" y="5289143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452797" y="5399922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653706" y="5231161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370305" y="5333874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633886" y="5443723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621649" y="5318707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404332" y="5174767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0734507" y="5171023"/>
            <a:ext cx="301569" cy="301569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845566" y="5305088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740717" y="5383446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0955743" y="5331186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712520" y="5185539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0997664" y="5307643"/>
            <a:ext cx="45720" cy="457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1081796" y="5171023"/>
            <a:ext cx="301569" cy="301569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1142110" y="5261494"/>
            <a:ext cx="180941" cy="12062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692640" y="5609753"/>
            <a:ext cx="1919326" cy="0"/>
          </a:xfrm>
          <a:prstGeom prst="line">
            <a:avLst/>
          </a:prstGeom>
          <a:noFill/>
          <a:ln w="1524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9601200" y="5673761"/>
            <a:ext cx="21022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noise → data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" y="411480"/>
            <a:ext cx="4572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SPOTLIGHT  ·  OPEN-SOURCE LIBRARY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TabDM</a:t>
            </a:r>
            <a:r>
              <a:rPr lang="en-US" sz="34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·  diffusion for mixed-type tabular data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small Python library for generating synthetic tabular data with diffusion in a transformed feature space — built with evaluation baked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394960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66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WHAT'S IN THE BOX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4864" cy="1143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204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Mixed types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numeric, categorical, boolean, ordinal, count, positive continuous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333756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46120" y="3337560"/>
            <a:ext cx="54864" cy="1143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5204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Conditional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2900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fix targets, balance subgroups, control sensitive columns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7240" y="461772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4617720"/>
            <a:ext cx="54864" cy="1143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006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Built-in eval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60120" y="5166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schema, distribution (TVD/KS), validity, downstream utility, trust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46120" y="461772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246120" y="4617720"/>
            <a:ext cx="54864" cy="1143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8006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8620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Privacy screen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429000" y="5166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exact-match rate and nearest-neighbor diagnostics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080760" y="2743200"/>
            <a:ext cx="5577840" cy="3108960"/>
          </a:xfrm>
          <a:prstGeom prst="rect">
            <a:avLst/>
          </a:prstGeom>
          <a:solidFill>
            <a:srgbClr val="2A2C33"/>
          </a:solidFill>
          <a:ln w="12700">
            <a:solidFill>
              <a:srgbClr val="2A2C3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080760" y="2743200"/>
            <a:ext cx="557784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245352" y="286207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519672" y="2862072"/>
            <a:ext cx="128016" cy="1280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793992" y="2862072"/>
            <a:ext cx="128016" cy="12801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03784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python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09360" y="3246120"/>
            <a:ext cx="5120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E5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from tabdm import generate_synthetic_data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synthetic = </a:t>
            </a:r>
            <a:r>
              <a:rPr lang="en-US" sz="1200" dirty="0">
                <a:solidFill>
                  <a:srgbClr val="FFD1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generate_synthetic_data</a:t>
            </a: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real,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target_column=</a:t>
            </a:r>
            <a:r>
              <a:rPr lang="en-US" sz="1200" dirty="0">
                <a:solidFill>
                  <a:srgbClr val="00C85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"at_risk"</a:t>
            </a: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sensitive_columns=[</a:t>
            </a:r>
            <a:r>
              <a:rPr lang="en-US" sz="1200" dirty="0">
                <a:solidFill>
                  <a:srgbClr val="00C85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"gender"</a:t>
            </a: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num_rows=</a:t>
            </a:r>
            <a:r>
              <a:rPr lang="en-US" sz="1200" dirty="0">
                <a:solidFill>
                  <a:srgbClr val="8E5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10_000</a:t>
            </a: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github.com/mlgorithm/tabdm</a:t>
            </a:r>
            <a:r>
              <a:rPr lang="en-US" sz="11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·    pip install tabdm    ·    Sam Urmian &amp; Mohammad Khalil  ·  University of Bergen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064240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0"/>
            <a:ext cx="109728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2743200" cy="2743200"/>
          </a:xfrm>
          <a:prstGeom prst="ellipse">
            <a:avLst/>
          </a:prstGeom>
          <a:solidFill>
            <a:srgbClr val="0B0B10">
              <a:alpha val="0"/>
            </a:srgbClr>
          </a:solidFill>
          <a:ln w="254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0" y="1188720"/>
            <a:ext cx="1828800" cy="1828800"/>
          </a:xfrm>
          <a:prstGeom prst="ellipse">
            <a:avLst/>
          </a:prstGeom>
          <a:solidFill>
            <a:srgbClr val="0B0B10">
              <a:alpha val="0"/>
            </a:srgbClr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walled gardens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 open research.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463040" cy="16459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1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won't replace real students.</a:t>
            </a:r>
            <a:endParaRPr lang="en-US" sz="2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100" dirty="0">
                <a:solidFill>
                  <a:srgbClr val="C4C7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But it can let many more people learn from how they learn.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" y="4937760"/>
            <a:ext cx="3657600" cy="109728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4937760"/>
            <a:ext cx="73152" cy="10972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5780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5102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Workshop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Join the LAK 2026 discussion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51960" y="4937760"/>
            <a:ext cx="3657600" cy="109728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51960" y="4937760"/>
            <a:ext cx="73152" cy="10972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52578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5102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166360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lasd.slateresearch.ai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138160" y="4937760"/>
            <a:ext cx="3657600" cy="1097280"/>
          </a:xfrm>
          <a:prstGeom prst="rect">
            <a:avLst/>
          </a:prstGeom>
          <a:solidFill>
            <a:srgbClr val="2A2C33"/>
          </a:solidFill>
          <a:ln w="1270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138160" y="4937760"/>
            <a:ext cx="73152" cy="10972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52578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52560" y="5102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Bring back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052560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use case to your work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 2026  ·  Sam Urmian · Slate  ·  The Utility of Synthetic Data in Education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 / 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2340</Words>
  <Application>Microsoft Macintosh PowerPoint</Application>
  <PresentationFormat>Widescreen</PresentationFormat>
  <Paragraphs>363</Paragraphs>
  <Slides>21</Slides>
  <Notes>21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DejaVu Sans</vt:lpstr>
      <vt:lpstr>DejaVu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Utility of Synthetic Data in Education</dc:title>
  <dc:subject>PptxGenJS Presentation</dc:subject>
  <dc:creator>Slate Research</dc:creator>
  <cp:lastModifiedBy>Sam Urmian</cp:lastModifiedBy>
  <cp:revision>2</cp:revision>
  <dcterms:created xsi:type="dcterms:W3CDTF">2026-04-27T21:30:45Z</dcterms:created>
  <dcterms:modified xsi:type="dcterms:W3CDTF">2026-04-28T06:30:47Z</dcterms:modified>
</cp:coreProperties>
</file>